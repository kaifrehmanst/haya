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93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94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22" autoAdjust="0"/>
  </p:normalViewPr>
  <p:slideViewPr>
    <p:cSldViewPr>
      <p:cViewPr varScale="1">
        <p:scale>
          <a:sx n="78" d="100"/>
          <a:sy n="78" d="100"/>
        </p:scale>
        <p:origin x="869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43000" y="838200"/>
            <a:ext cx="11049000" cy="16764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>
            <a:normAutofit fontScale="92500"/>
            <a:scene3d>
              <a:camera prst="orthographicFront"/>
              <a:lightRig rig="threePt" dir="t"/>
            </a:scene3d>
          </a:bodyPr>
          <a:lstStyle/>
          <a:p>
            <a:pPr marL="0" indent="0" algn="l" fontAlgn="auto">
              <a:lnSpc>
                <a:spcPct val="117000"/>
              </a:lnSpc>
              <a:defRPr/>
            </a:pPr>
            <a:r>
              <a:rPr lang="en-US" sz="5400" b="0" i="0" u="none" spc="-100" baseline="0" dirty="0">
                <a:solidFill>
                  <a:schemeClr val="accent4">
                    <a:lumMod val="75000"/>
                  </a:schemeClr>
                </a:solidFill>
                <a:effectLst/>
                <a:latin typeface="思源黑体 Medium"/>
                <a:ea typeface="思源黑体 Medium"/>
              </a:rPr>
              <a:t>HAYA: </a:t>
            </a:r>
            <a:r>
              <a:rPr lang="en-US" sz="5400" b="0" i="0" u="none" spc="-100" baseline="0" dirty="0" err="1">
                <a:solidFill>
                  <a:schemeClr val="accent4">
                    <a:lumMod val="75000"/>
                  </a:schemeClr>
                </a:solidFill>
                <a:effectLst/>
                <a:latin typeface="思源黑体 Medium"/>
                <a:ea typeface="思源黑体 Medium"/>
              </a:rPr>
              <a:t>Encompassor</a:t>
            </a:r>
            <a:r>
              <a:rPr lang="en-US" sz="5400" b="0" i="0" u="none" spc="-100" baseline="0" dirty="0">
                <a:solidFill>
                  <a:schemeClr val="accent4">
                    <a:lumMod val="75000"/>
                  </a:schemeClr>
                </a:solidFill>
                <a:effectLst/>
                <a:latin typeface="思源黑体 Medium"/>
                <a:ea typeface="思源黑体 Medium"/>
              </a:rPr>
              <a:t> of Offline LLM Utilizer</a:t>
            </a:r>
            <a:endParaRPr lang="en-US" sz="1100" dirty="0">
              <a:solidFill>
                <a:schemeClr val="accent4">
                  <a:lumMod val="75000"/>
                </a:schemeClr>
              </a:solidFill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3558192" y="4462946"/>
            <a:ext cx="6218555" cy="373464"/>
            <a:chOff x="3892671" y="3696842"/>
            <a:chExt cx="6218555" cy="373464"/>
          </a:xfrm>
          <a:noFill/>
        </p:grpSpPr>
        <p:sp>
          <p:nvSpPr>
            <p:cNvPr id="4" name="TextBox 4"/>
            <p:cNvSpPr txBox="1"/>
            <p:nvPr/>
          </p:nvSpPr>
          <p:spPr>
            <a:xfrm>
              <a:off x="3892671" y="3696842"/>
              <a:ext cx="2802890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sz="1800" b="0" i="0" u="none" baseline="0" dirty="0">
                  <a:solidFill>
                    <a:srgbClr val="000000"/>
                  </a:solidFill>
                  <a:latin typeface="思源黑体 Normal"/>
                  <a:ea typeface="思源黑体 Normal"/>
                </a:rPr>
                <a:t>Name: Kaif Rehman S.T</a:t>
              </a:r>
              <a:endParaRPr lang="en-US" sz="1100" dirty="0"/>
            </a:p>
          </p:txBody>
        </p:sp>
        <p:sp>
          <p:nvSpPr>
            <p:cNvPr id="5" name="AutoShape 5"/>
            <p:cNvSpPr/>
            <p:nvPr/>
          </p:nvSpPr>
          <p:spPr>
            <a:xfrm>
              <a:off x="6695561" y="3702006"/>
              <a:ext cx="3415665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algn="l"/>
              <a:r>
                <a:rPr lang="en-US" sz="1800" b="0" i="0" u="none" baseline="0" dirty="0">
                  <a:solidFill>
                    <a:srgbClr val="000000"/>
                  </a:solidFill>
                  <a:latin typeface="思源黑体 Normal"/>
                  <a:ea typeface="思源黑体 Normal"/>
                </a:rPr>
                <a:t>Roll Number:230701134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3203862" y="4462946"/>
            <a:ext cx="354330" cy="354330"/>
          </a:xfrm>
          <a:prstGeom prst="ellipse">
            <a:avLst/>
          </a:prstGeom>
          <a:solidFill>
            <a:srgbClr val="D7B67E"/>
          </a:solidFill>
          <a:ln>
            <a:solidFill>
              <a:srgbClr val="D7B67E"/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203862" y="5257800"/>
            <a:ext cx="354330" cy="354330"/>
          </a:xfrm>
          <a:prstGeom prst="ellipse">
            <a:avLst/>
          </a:prstGeom>
          <a:solidFill>
            <a:srgbClr val="D7B67E"/>
          </a:solidFill>
          <a:ln>
            <a:solidFill>
              <a:srgbClr val="D7B67E"/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 dirty="0"/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012F556E-1BA5-5EC7-2EF0-4C0509728218}"/>
              </a:ext>
            </a:extLst>
          </p:cNvPr>
          <p:cNvGrpSpPr/>
          <p:nvPr/>
        </p:nvGrpSpPr>
        <p:grpSpPr>
          <a:xfrm>
            <a:off x="3598606" y="5257800"/>
            <a:ext cx="9210040" cy="1130300"/>
            <a:chOff x="3836852" y="4679504"/>
            <a:chExt cx="9210040" cy="1130300"/>
          </a:xfrm>
          <a:noFill/>
        </p:grpSpPr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F5358B30-5202-A53A-FA5A-C2DCA0437FF5}"/>
                </a:ext>
              </a:extLst>
            </p:cNvPr>
            <p:cNvSpPr txBox="1"/>
            <p:nvPr/>
          </p:nvSpPr>
          <p:spPr>
            <a:xfrm>
              <a:off x="3836852" y="4679504"/>
              <a:ext cx="5794375" cy="369332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algn="l">
                <a:defRPr/>
              </a:pPr>
              <a:r>
                <a:rPr lang="en-US" sz="1800" b="0" i="0" u="none" baseline="0" dirty="0">
                  <a:solidFill>
                    <a:srgbClr val="000000"/>
                  </a:solidFill>
                  <a:latin typeface="思源黑体 Normal"/>
                  <a:ea typeface="思源黑体 Normal"/>
                </a:rPr>
                <a:t>Department of Computer Science and Engineering</a:t>
              </a:r>
              <a:endParaRPr lang="en-US" sz="1100" dirty="0"/>
            </a:p>
          </p:txBody>
        </p:sp>
        <p:sp>
          <p:nvSpPr>
            <p:cNvPr id="13" name="AutoShape 5">
              <a:extLst>
                <a:ext uri="{FF2B5EF4-FFF2-40B4-BE49-F238E27FC236}">
                  <a16:creationId xmlns:a16="http://schemas.microsoft.com/office/drawing/2014/main" id="{2F960DD7-5347-0A90-AFD4-868FB77C1ECA}"/>
                </a:ext>
              </a:extLst>
            </p:cNvPr>
            <p:cNvSpPr/>
            <p:nvPr/>
          </p:nvSpPr>
          <p:spPr>
            <a:xfrm>
              <a:off x="9631227" y="5441504"/>
              <a:ext cx="3415665" cy="3683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anchor="t">
              <a:spAutoFit/>
            </a:bodyPr>
            <a:lstStyle/>
            <a:p>
              <a:pPr marL="0" algn="l"/>
              <a:r>
                <a:rPr lang="en-US" sz="1800" b="0" i="0" u="none" baseline="0" dirty="0">
                  <a:solidFill>
                    <a:srgbClr val="000000"/>
                  </a:solidFill>
                  <a:latin typeface="思源黑体 Normal"/>
                  <a:ea typeface="思源黑体 Normal"/>
                </a:rPr>
                <a:t>Date:16-06-2026</a:t>
              </a:r>
            </a:p>
          </p:txBody>
        </p:sp>
      </p:grpSp>
      <p:sp>
        <p:nvSpPr>
          <p:cNvPr id="15" name="TextBox 4">
            <a:extLst>
              <a:ext uri="{FF2B5EF4-FFF2-40B4-BE49-F238E27FC236}">
                <a16:creationId xmlns:a16="http://schemas.microsoft.com/office/drawing/2014/main" id="{5F46FAEA-5F3E-6A93-EF2D-C44D76F32926}"/>
              </a:ext>
            </a:extLst>
          </p:cNvPr>
          <p:cNvSpPr txBox="1"/>
          <p:nvPr/>
        </p:nvSpPr>
        <p:spPr>
          <a:xfrm>
            <a:off x="1885693" y="3171046"/>
            <a:ext cx="9220200" cy="52322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sz="2800" b="0" i="0" u="none" baseline="0" dirty="0">
                <a:solidFill>
                  <a:schemeClr val="accent6">
                    <a:lumMod val="50000"/>
                  </a:schemeClr>
                </a:solidFill>
                <a:latin typeface="思源黑体 Normal"/>
                <a:ea typeface="思源黑体 Normal"/>
              </a:rPr>
              <a:t>CS23621 – MOBILE APPLICATION DEVELOPMENT LABORATORY</a:t>
            </a:r>
            <a:endParaRPr lang="en-US" sz="28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44950" y="270571"/>
            <a:ext cx="41021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algn="dist">
              <a:defRPr/>
            </a:pPr>
            <a:r>
              <a:rPr lang="en-US" sz="2800" b="0" i="0" u="none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CONTENTS
</a:t>
            </a:r>
            <a:endParaRPr lang="en-US" sz="2800" dirty="0"/>
          </a:p>
        </p:txBody>
      </p:sp>
      <p:sp>
        <p:nvSpPr>
          <p:cNvPr id="3" name="TextBox 3"/>
          <p:cNvSpPr txBox="1"/>
          <p:nvPr/>
        </p:nvSpPr>
        <p:spPr>
          <a:xfrm>
            <a:off x="2418715" y="1297489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Introduction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1011442" y="1297489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D2AB6E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1526540" y="1905184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7837805" y="1297489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Problem Statement &amp; Objectives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430532" y="1297489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D2AB6E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945630" y="1905184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418715" y="2427154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Project Overview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011442" y="2427154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03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1526540" y="3034849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837805" y="2427154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Platform &amp; Technology Stack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430532" y="2427154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D2AB6E"/>
                </a:solidFill>
                <a:latin typeface="思源黑体 Normal"/>
                <a:ea typeface="思源黑体 Normal"/>
              </a:rPr>
              <a:t>04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945630" y="3034849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2418715" y="3537769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System Architecture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011442" y="3537769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D2AB6E"/>
                </a:solidFill>
                <a:latin typeface="思源黑体 Normal"/>
                <a:ea typeface="思源黑体 Normal"/>
              </a:rPr>
              <a:t>05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526540" y="4145464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7837805" y="3537769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Core Features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6430532" y="3537769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>
                <a:solidFill>
                  <a:srgbClr val="D2AB6E"/>
                </a:solidFill>
                <a:latin typeface="思源黑体 Normal"/>
                <a:ea typeface="思源黑体 Normal"/>
              </a:rPr>
              <a:t>06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945630" y="4145464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2418715" y="4667434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Streaming &amp; User Experience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11442" y="4626261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07</a:t>
            </a:r>
            <a:endParaRPr lang="en-US" sz="1100" dirty="0"/>
          </a:p>
        </p:txBody>
      </p:sp>
      <p:sp>
        <p:nvSpPr>
          <p:cNvPr id="23" name="TextBox 23"/>
          <p:cNvSpPr txBox="1"/>
          <p:nvPr/>
        </p:nvSpPr>
        <p:spPr>
          <a:xfrm>
            <a:off x="1526540" y="5275129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7837805" y="4667434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Markdown &amp; Code Rendering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6430532" y="4648384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08</a:t>
            </a:r>
            <a:endParaRPr lang="en-US" sz="1100" dirty="0"/>
          </a:p>
        </p:txBody>
      </p:sp>
      <p:sp>
        <p:nvSpPr>
          <p:cNvPr id="26" name="TextBox 26"/>
          <p:cNvSpPr txBox="1"/>
          <p:nvPr/>
        </p:nvSpPr>
        <p:spPr>
          <a:xfrm>
            <a:off x="6945630" y="5275129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4083CA-5F24-95A5-6E5A-F53AB0749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7E7417D0-A017-4E9F-294E-55A3D65B9983}"/>
              </a:ext>
            </a:extLst>
          </p:cNvPr>
          <p:cNvSpPr txBox="1"/>
          <p:nvPr/>
        </p:nvSpPr>
        <p:spPr>
          <a:xfrm>
            <a:off x="4044950" y="270571"/>
            <a:ext cx="4102100" cy="5219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algn="dist">
              <a:defRPr/>
            </a:pPr>
            <a:r>
              <a:rPr lang="en-US" sz="2800" b="0" i="0" u="none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CONTENTS
</a:t>
            </a:r>
            <a:endParaRPr lang="en-US" sz="2800" dirty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F95DC2A-083F-7253-D55A-315533E2C646}"/>
              </a:ext>
            </a:extLst>
          </p:cNvPr>
          <p:cNvSpPr txBox="1"/>
          <p:nvPr/>
        </p:nvSpPr>
        <p:spPr>
          <a:xfrm>
            <a:off x="2418715" y="182880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dirty="0">
                <a:solidFill>
                  <a:srgbClr val="D2AB6E"/>
                </a:solidFill>
                <a:latin typeface="思源黑体 Normal"/>
              </a:rPr>
              <a:t>Device Profiling &amp; Recommendation Engine</a:t>
            </a:r>
            <a:endParaRPr lang="en-US" sz="1100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C05DB82-454D-F944-ACA3-925EA815BDB3}"/>
              </a:ext>
            </a:extLst>
          </p:cNvPr>
          <p:cNvSpPr txBox="1"/>
          <p:nvPr/>
        </p:nvSpPr>
        <p:spPr>
          <a:xfrm>
            <a:off x="1011442" y="1828800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09</a:t>
            </a:r>
            <a:endParaRPr lang="en-US" sz="1100" dirty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79AA16-AC69-8604-2918-D9DB48E99AE6}"/>
              </a:ext>
            </a:extLst>
          </p:cNvPr>
          <p:cNvSpPr txBox="1"/>
          <p:nvPr/>
        </p:nvSpPr>
        <p:spPr>
          <a:xfrm>
            <a:off x="1526540" y="2436495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62C656B-1246-9645-4D05-1E54E4B0E6A9}"/>
              </a:ext>
            </a:extLst>
          </p:cNvPr>
          <p:cNvSpPr txBox="1"/>
          <p:nvPr/>
        </p:nvSpPr>
        <p:spPr>
          <a:xfrm>
            <a:off x="7837805" y="182880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Model hub &amp; Download System</a:t>
            </a:r>
            <a:endParaRPr lang="en-US" sz="1100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6C05F01-BB6B-B724-3261-4A8492085947}"/>
              </a:ext>
            </a:extLst>
          </p:cNvPr>
          <p:cNvSpPr txBox="1"/>
          <p:nvPr/>
        </p:nvSpPr>
        <p:spPr>
          <a:xfrm>
            <a:off x="6430532" y="1828800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10</a:t>
            </a:r>
            <a:endParaRPr lang="en-US" sz="1100" dirty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E103DCE-18D4-81DC-2A04-8D2316A0E0EF}"/>
              </a:ext>
            </a:extLst>
          </p:cNvPr>
          <p:cNvSpPr txBox="1"/>
          <p:nvPr/>
        </p:nvSpPr>
        <p:spPr>
          <a:xfrm>
            <a:off x="6945630" y="2436495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683D8D3-CDE2-4A44-0186-0EB54D10FE45}"/>
              </a:ext>
            </a:extLst>
          </p:cNvPr>
          <p:cNvSpPr txBox="1"/>
          <p:nvPr/>
        </p:nvSpPr>
        <p:spPr>
          <a:xfrm>
            <a:off x="2418715" y="2958465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Performance, Stability &amp; Safety</a:t>
            </a:r>
            <a:endParaRPr lang="en-US" sz="1100" dirty="0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12C1996-D226-2C77-BB68-93EEEB2D9AFE}"/>
              </a:ext>
            </a:extLst>
          </p:cNvPr>
          <p:cNvSpPr txBox="1"/>
          <p:nvPr/>
        </p:nvSpPr>
        <p:spPr>
          <a:xfrm>
            <a:off x="1011442" y="295846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11</a:t>
            </a:r>
            <a:endParaRPr lang="en-US" sz="1100" dirty="0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1426842-3BE8-746D-AC03-9C80A9C940C9}"/>
              </a:ext>
            </a:extLst>
          </p:cNvPr>
          <p:cNvSpPr txBox="1"/>
          <p:nvPr/>
        </p:nvSpPr>
        <p:spPr>
          <a:xfrm>
            <a:off x="1526540" y="3566160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2C8FF1AF-7C0B-1BAE-3F55-773C8284F9A5}"/>
              </a:ext>
            </a:extLst>
          </p:cNvPr>
          <p:cNvSpPr txBox="1"/>
          <p:nvPr/>
        </p:nvSpPr>
        <p:spPr>
          <a:xfrm>
            <a:off x="7842721" y="307721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Output Showcase</a:t>
            </a:r>
            <a:endParaRPr lang="en-US" sz="1100" dirty="0"/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F5601CA-767E-1B8A-4226-9431E21FAAAA}"/>
              </a:ext>
            </a:extLst>
          </p:cNvPr>
          <p:cNvSpPr txBox="1"/>
          <p:nvPr/>
        </p:nvSpPr>
        <p:spPr>
          <a:xfrm>
            <a:off x="6430532" y="2958465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12</a:t>
            </a:r>
            <a:endParaRPr lang="en-US" sz="110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C8712A1-43BD-FF4E-D52D-BA3DC67E6425}"/>
              </a:ext>
            </a:extLst>
          </p:cNvPr>
          <p:cNvSpPr txBox="1"/>
          <p:nvPr/>
        </p:nvSpPr>
        <p:spPr>
          <a:xfrm>
            <a:off x="6945630" y="3566160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CCF0694-0530-EB97-E4F2-18213F85B3F5}"/>
              </a:ext>
            </a:extLst>
          </p:cNvPr>
          <p:cNvSpPr txBox="1"/>
          <p:nvPr/>
        </p:nvSpPr>
        <p:spPr>
          <a:xfrm>
            <a:off x="2418715" y="406908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b="0" i="0" u="none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Limitations &amp; Future Enhancements</a:t>
            </a:r>
            <a:endParaRPr lang="en-US" sz="1100" dirty="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457BD93-88E4-6E6D-F9A8-8310FECBB0B0}"/>
              </a:ext>
            </a:extLst>
          </p:cNvPr>
          <p:cNvSpPr txBox="1"/>
          <p:nvPr/>
        </p:nvSpPr>
        <p:spPr>
          <a:xfrm>
            <a:off x="1011442" y="4069080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13</a:t>
            </a:r>
            <a:endParaRPr lang="en-US" sz="1100" dirty="0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A74B53F-0EE5-0994-0AF6-DB744BE7F893}"/>
              </a:ext>
            </a:extLst>
          </p:cNvPr>
          <p:cNvSpPr txBox="1"/>
          <p:nvPr/>
        </p:nvSpPr>
        <p:spPr>
          <a:xfrm>
            <a:off x="1526540" y="4676775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D9D84DC-3662-E918-05D6-AFC492DC1109}"/>
              </a:ext>
            </a:extLst>
          </p:cNvPr>
          <p:cNvSpPr txBox="1"/>
          <p:nvPr/>
        </p:nvSpPr>
        <p:spPr>
          <a:xfrm>
            <a:off x="7837805" y="4069080"/>
            <a:ext cx="3252470" cy="9779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defRPr/>
            </a:pPr>
            <a:r>
              <a:rPr lang="en-US" sz="2200" dirty="0">
                <a:solidFill>
                  <a:srgbClr val="D2AB6E"/>
                </a:solidFill>
              </a:rPr>
              <a:t>Conclusion &amp; Thank You</a:t>
            </a:r>
            <a:endParaRPr lang="en-US" sz="1100" dirty="0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B24E2CA-1B6B-4387-D8D9-2FB5BBD1E8F9}"/>
              </a:ext>
            </a:extLst>
          </p:cNvPr>
          <p:cNvSpPr txBox="1"/>
          <p:nvPr/>
        </p:nvSpPr>
        <p:spPr>
          <a:xfrm>
            <a:off x="6430532" y="4069080"/>
            <a:ext cx="1602000" cy="82994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rmAutofit/>
          </a:bodyPr>
          <a:lstStyle/>
          <a:p>
            <a:pPr marL="0" algn="ctr">
              <a:defRPr/>
            </a:pPr>
            <a:r>
              <a:rPr lang="en-US" sz="3800" b="1" i="0" u="none" spc="100" baseline="0" dirty="0">
                <a:solidFill>
                  <a:srgbClr val="D2AB6E"/>
                </a:solidFill>
                <a:latin typeface="思源黑体 Normal"/>
                <a:ea typeface="思源黑体 Normal"/>
              </a:rPr>
              <a:t>14</a:t>
            </a:r>
            <a:endParaRPr lang="en-US" sz="1100" dirty="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B2B0CB5B-A863-52DD-9F5F-D30A9AFCA4B5}"/>
              </a:ext>
            </a:extLst>
          </p:cNvPr>
          <p:cNvSpPr txBox="1"/>
          <p:nvPr/>
        </p:nvSpPr>
        <p:spPr>
          <a:xfrm>
            <a:off x="6945630" y="4676775"/>
            <a:ext cx="572135" cy="203200"/>
          </a:xfrm>
          <a:prstGeom prst="rect">
            <a:avLst/>
          </a:prstGeom>
          <a:noFill/>
          <a:ln>
            <a:solidFill>
              <a:srgbClr val="D2AB6E"/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pPr marL="0" indent="0" algn="dist" fontAlgn="auto">
              <a:lnSpc>
                <a:spcPct val="100000"/>
              </a:lnSpc>
              <a:defRPr/>
            </a:pPr>
            <a:r>
              <a:rPr lang="en-US" sz="900" b="0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PART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4492604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01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Introduction</a:t>
            </a:r>
            <a:endParaRPr lang="en-US" sz="110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 additive="base"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0" y="5807395"/>
            <a:ext cx="12192000" cy="0"/>
          </a:xfrm>
          <a:prstGeom prst="line">
            <a:avLst/>
          </a:prstGeom>
          <a:ln w="12700">
            <a:solidFill>
              <a:schemeClr val="tx1">
                <a:alpha val="40000"/>
                <a:lumMod val="50000"/>
                <a:lumOff val="50000"/>
              </a:schemeClr>
            </a:solidFill>
          </a:ln>
        </p:spPr>
      </p:cxnSp>
      <p:cxnSp>
        <p:nvCxnSpPr>
          <p:cNvPr id="3" name="Connector 3"/>
          <p:cNvCxnSpPr/>
          <p:nvPr/>
        </p:nvCxnSpPr>
        <p:spPr>
          <a:xfrm flipH="1" flipV="1">
            <a:off x="5385371" y="3200400"/>
            <a:ext cx="1" cy="2546316"/>
          </a:xfrm>
          <a:prstGeom prst="line">
            <a:avLst/>
          </a:prstGeom>
          <a:ln w="12700">
            <a:solidFill>
              <a:schemeClr val="tx1">
                <a:alpha val="40000"/>
                <a:lumMod val="50000"/>
                <a:lumOff val="50000"/>
              </a:schemeClr>
            </a:solidFill>
          </a:ln>
        </p:spPr>
      </p:cxnSp>
      <p:sp>
        <p:nvSpPr>
          <p:cNvPr id="4" name="AutoShape 4"/>
          <p:cNvSpPr/>
          <p:nvPr/>
        </p:nvSpPr>
        <p:spPr>
          <a:xfrm>
            <a:off x="5324692" y="5746716"/>
            <a:ext cx="121359" cy="1213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70255" y="2823210"/>
            <a:ext cx="4953635" cy="4686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18900000"/>
          </a:gradFill>
          <a:ln>
            <a:noFill/>
          </a:ln>
        </p:spPr>
        <p:txBody>
          <a:bodyPr vert="horz" lIns="144000" tIns="45720" rIns="91440" bIns="45720" anchor="ctr"/>
          <a:lstStyle/>
          <a:p>
            <a:pPr marL="0" algn="l"/>
            <a:r>
              <a:rPr lang="en-US" sz="2000" b="1" i="0" u="none" spc="100" baseline="0">
                <a:solidFill>
                  <a:schemeClr val="lt1"/>
                </a:solidFill>
                <a:latin typeface="思源黑体 Normal"/>
                <a:ea typeface="思源黑体 Normal"/>
              </a:rPr>
              <a:t>Growth of LLMs and Cloud Limitations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5385371" y="3292034"/>
            <a:ext cx="342035" cy="149362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cxnSp>
        <p:nvCxnSpPr>
          <p:cNvPr id="7" name="Connector 7"/>
          <p:cNvCxnSpPr/>
          <p:nvPr/>
        </p:nvCxnSpPr>
        <p:spPr>
          <a:xfrm flipH="1" flipV="1">
            <a:off x="10528866" y="2276475"/>
            <a:ext cx="1" cy="3470241"/>
          </a:xfrm>
          <a:prstGeom prst="line">
            <a:avLst/>
          </a:prstGeom>
          <a:ln w="12700">
            <a:solidFill>
              <a:schemeClr val="tx1">
                <a:alpha val="40000"/>
                <a:lumMod val="50000"/>
                <a:lumOff val="50000"/>
              </a:schemeClr>
            </a:solidFill>
          </a:ln>
        </p:spPr>
      </p:cxnSp>
      <p:sp>
        <p:nvSpPr>
          <p:cNvPr id="8" name="AutoShape 8"/>
          <p:cNvSpPr/>
          <p:nvPr/>
        </p:nvSpPr>
        <p:spPr>
          <a:xfrm flipV="1">
            <a:off x="10535688" y="2354858"/>
            <a:ext cx="342035" cy="149362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468187" y="5746716"/>
            <a:ext cx="121359" cy="1213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06135" y="1885950"/>
            <a:ext cx="4953635" cy="4686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18900000"/>
          </a:gradFill>
          <a:ln>
            <a:noFill/>
          </a:ln>
        </p:spPr>
        <p:txBody>
          <a:bodyPr vert="horz" lIns="144000" tIns="45720" rIns="91440" bIns="45720" anchor="ctr"/>
          <a:lstStyle/>
          <a:p>
            <a:pPr marL="0" algn="l"/>
            <a:r>
              <a:rPr lang="en-US" sz="2000" b="1" i="0" u="none" spc="100" baseline="0">
                <a:solidFill>
                  <a:schemeClr val="lt1"/>
                </a:solidFill>
                <a:latin typeface="思源黑体 Normal"/>
                <a:ea typeface="思源黑体 Normal"/>
              </a:rPr>
              <a:t>Introducing HAYA as a Solution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8985" y="3291840"/>
            <a:ext cx="4615180" cy="24555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Large Language Models have seen exponential growth, but cloud-based AI faces significant limitations. These include dependency on internet connectivity, which introduces latency and privacy concerns for sensitive mobile applications.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5916295" y="2354580"/>
            <a:ext cx="4615180" cy="24555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HAYA is a fully offline Android LLM framework designed as a privacy-focused mobile AI solution. It utilizes a local GGUF execution system to enable AI capabilities without requiring an internet connection.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The Need for Offline AI Systems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down)">
                                      <p:cBhvr>
                                        <p:cTn id="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2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02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Problem Statement &amp; Objectives</a:t>
            </a:r>
            <a:endParaRPr lang="en-US" sz="1100"/>
          </a:p>
        </p:txBody>
      </p:sp>
    </p:spTree>
  </p:cSld>
  <p:clrMapOvr>
    <a:masterClrMapping/>
  </p:clrMapOvr>
  <p:transition spd="slow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plus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3325" y="1769745"/>
            <a:ext cx="5232400" cy="4364355"/>
            <a:chOff x="1022247" y="1769914"/>
            <a:chExt cx="5232251" cy="4364186"/>
          </a:xfrm>
          <a:solidFill>
            <a:srgbClr val="EDF2F2"/>
          </a:solidFill>
        </p:grpSpPr>
        <p:sp>
          <p:nvSpPr>
            <p:cNvPr id="3" name="Freeform 3"/>
            <p:cNvSpPr/>
            <p:nvPr/>
          </p:nvSpPr>
          <p:spPr>
            <a:xfrm>
              <a:off x="1022247" y="1769914"/>
              <a:ext cx="5232251" cy="4364186"/>
            </a:xfrm>
            <a:custGeom>
              <a:avLst/>
              <a:gdLst/>
              <a:ahLst/>
              <a:cxnLst/>
              <a:rect l="l" t="t" r="r" b="b"/>
              <a:pathLst>
                <a:path w="5232251" h="4239000">
                  <a:moveTo>
                    <a:pt x="575868" y="0"/>
                  </a:moveTo>
                  <a:lnTo>
                    <a:pt x="4096415" y="0"/>
                  </a:lnTo>
                  <a:lnTo>
                    <a:pt x="5232251" y="4239000"/>
                  </a:lnTo>
                  <a:lnTo>
                    <a:pt x="575868" y="4239000"/>
                  </a:lnTo>
                  <a:cubicBezTo>
                    <a:pt x="257825" y="4239000"/>
                    <a:pt x="0" y="3981175"/>
                    <a:pt x="0" y="3663132"/>
                  </a:cubicBezTo>
                  <a:lnTo>
                    <a:pt x="0" y="575868"/>
                  </a:lnTo>
                  <a:cubicBezTo>
                    <a:pt x="0" y="257825"/>
                    <a:pt x="257825" y="0"/>
                    <a:pt x="57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1203707" y="2017434"/>
              <a:ext cx="803982" cy="8039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1260827" y="2074554"/>
              <a:ext cx="689743" cy="689741"/>
            </a:xfrm>
            <a:prstGeom prst="ellipse">
              <a:avLst/>
            </a:prstGeom>
            <a:solidFill>
              <a:srgbClr val="D2AB6E"/>
            </a:solidFill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508705" y="2315382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solidFill>
              <a:schemeClr val="bg2"/>
            </a:solidFill>
          </p:spPr>
          <p:txBody>
            <a:bodyPr vert="horz" wrap="square" lIns="90170" tIns="46990" rIns="90170" bIns="46990" anchor="ctr">
              <a:normAutofit fontScale="475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79745" y="1769745"/>
            <a:ext cx="5407631" cy="4364355"/>
            <a:chOff x="5399051" y="1769914"/>
            <a:chExt cx="5407482" cy="4364186"/>
          </a:xfrm>
          <a:solidFill>
            <a:srgbClr val="EDF2F2"/>
          </a:solidFill>
        </p:grpSpPr>
        <p:sp>
          <p:nvSpPr>
            <p:cNvPr id="8" name="Freeform 8"/>
            <p:cNvSpPr/>
            <p:nvPr/>
          </p:nvSpPr>
          <p:spPr>
            <a:xfrm>
              <a:off x="5399051" y="1769914"/>
              <a:ext cx="5407482" cy="4364186"/>
            </a:xfrm>
            <a:custGeom>
              <a:avLst/>
              <a:gdLst/>
              <a:ahLst/>
              <a:cxnLst/>
              <a:rect l="l" t="t" r="r" b="b"/>
              <a:pathLst>
                <a:path w="5407482" h="4239000">
                  <a:moveTo>
                    <a:pt x="0" y="0"/>
                  </a:moveTo>
                  <a:lnTo>
                    <a:pt x="4831614" y="0"/>
                  </a:lnTo>
                  <a:cubicBezTo>
                    <a:pt x="5149657" y="0"/>
                    <a:pt x="5407482" y="257825"/>
                    <a:pt x="5407482" y="575868"/>
                  </a:cubicBezTo>
                  <a:lnTo>
                    <a:pt x="5407482" y="3663132"/>
                  </a:lnTo>
                  <a:cubicBezTo>
                    <a:pt x="5407482" y="3981175"/>
                    <a:pt x="5149657" y="4239000"/>
                    <a:pt x="4831614" y="4239000"/>
                  </a:cubicBezTo>
                  <a:lnTo>
                    <a:pt x="1135837" y="42390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9804460" y="5125857"/>
              <a:ext cx="803982" cy="8039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861580" y="5182976"/>
              <a:ext cx="689743" cy="689741"/>
            </a:xfrm>
            <a:prstGeom prst="ellipse">
              <a:avLst/>
            </a:prstGeom>
            <a:solidFill>
              <a:srgbClr val="D2AB6E"/>
            </a:solidFill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109457" y="5423804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solidFill>
              <a:schemeClr val="bg2"/>
            </a:solidFill>
          </p:spPr>
          <p:txBody>
            <a:bodyPr vert="horz" wrap="square" lIns="90170" tIns="46990" rIns="90170" bIns="46990" anchor="ctr">
              <a:normAutofit fontScale="475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3500" y="2789555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Cloud Dependency and Latency Issues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33500" y="3581400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Mobile applications relying on cloud AI suffer from internet requirements, leading to unpredictable latency. This is compounded by privacy concerns and poor optimization for mobile device constraints.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3985" y="1996440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Lack of Intelligent Model Recommendation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83985" y="2789555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A key problem is the absence of a system that can intelligently recommend suitable AI models based on the user's specific device capabilities and needs.</a:t>
            </a:r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Core Challenges with AI</a:t>
            </a:r>
            <a:endParaRPr lang="en-US" sz="1100" dirty="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out)">
                                      <p:cBhvr>
                                        <p:cTn id="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in)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47790" y="1684655"/>
            <a:ext cx="5207000" cy="2124000"/>
          </a:xfrm>
          <a:prstGeom prst="roundRect">
            <a:avLst>
              <a:gd name="adj" fmla="val 8000"/>
            </a:avLst>
          </a:prstGeom>
          <a:blipFill rotWithShape="1">
            <a:blip r:embed="rId3"/>
            <a:srcRect/>
            <a:stretch>
              <a:fillRect t="-32871" b="-32476"/>
            </a:stretch>
          </a:blipFill>
          <a:ln cap="flat" cmpd="sng">
            <a:noFill/>
            <a:prstDash val="solid"/>
            <a:miter lim="800000"/>
          </a:ln>
          <a:effectLst>
            <a:outerShdw blurRad="127000" dist="63500" dir="5400000" algn="t" rotWithShape="0">
              <a:schemeClr val="tx2">
                <a:alpha val="20000"/>
              </a:schemeClr>
            </a:outerShdw>
          </a:effectLst>
        </p:spPr>
        <p:txBody>
          <a:bodyPr rot="0"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212808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primary objective is to enable fully offline AI chat with local GGUF execution. This includes real-time token streaming and a responsive user interface.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1050" y="168465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Offline AI Chat and Local Execution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47790" y="3953375"/>
            <a:ext cx="5207000" cy="2124000"/>
          </a:xfrm>
          <a:prstGeom prst="roundRect">
            <a:avLst>
              <a:gd name="adj" fmla="val 8000"/>
            </a:avLst>
          </a:prstGeom>
          <a:blipFill>
            <a:blip r:embed="rId4"/>
            <a:srcRect/>
            <a:stretch>
              <a:fillRect t="-33066" b="-32669"/>
            </a:stretch>
          </a:blipFill>
          <a:ln cap="flat" cmpd="sng">
            <a:noFill/>
            <a:prstDash val="solid"/>
            <a:miter lim="800000"/>
          </a:ln>
          <a:effectLst>
            <a:outerShdw blurRad="127000" dist="63500" dir="5400000" algn="t" rotWithShape="0">
              <a:schemeClr val="tx2">
                <a:alpha val="20000"/>
              </a:schemeClr>
            </a:outerShdw>
          </a:effectLst>
        </p:spPr>
        <p:txBody>
          <a:bodyPr rot="0"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81050" y="438537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Another key goal is to implement a device-aware recommendation system that optimizes mobile performance by selecting the most appropriate model for the hardware.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050" y="395337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Device-Aware Model Recommendation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Project Objectives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Project Overview</a:t>
            </a:r>
            <a:endParaRPr lang="en-US" sz="110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12430" y="1141095"/>
            <a:ext cx="3296285" cy="5153660"/>
          </a:xfrm>
          <a:prstGeom prst="snip2DiagRect">
            <a:avLst/>
          </a:prstGeom>
          <a:noFill/>
          <a:ln>
            <a:solidFill>
              <a:schemeClr val="accent1">
                <a:alpha val="25000"/>
              </a:schemeClr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69.jpeg"/>
          <p:cNvPicPr>
            <a:picLocks noChangeAspect="1"/>
          </p:cNvPicPr>
          <p:nvPr/>
        </p:nvPicPr>
        <p:blipFill>
          <a:blip r:embed="rId3"/>
          <a:srcRect l="28635" r="28635"/>
          <a:stretch>
            <a:fillRect/>
          </a:stretch>
        </p:blipFill>
        <p:spPr>
          <a:xfrm>
            <a:off x="7935595" y="1222375"/>
            <a:ext cx="3296285" cy="5153660"/>
          </a:xfrm>
          <a:custGeom>
            <a:avLst/>
            <a:gdLst/>
            <a:ahLst/>
            <a:cxnLst/>
            <a:rect l="0" t="0" r="0" b="0"/>
            <a:pathLst>
              <a:path w="5191" h="8116">
                <a:moveTo>
                  <a:pt x="0" y="0"/>
                </a:moveTo>
                <a:lnTo>
                  <a:pt x="4326" y="0"/>
                </a:lnTo>
                <a:lnTo>
                  <a:pt x="5191" y="865"/>
                </a:lnTo>
                <a:lnTo>
                  <a:pt x="5191" y="8116"/>
                </a:lnTo>
                <a:lnTo>
                  <a:pt x="865" y="8116"/>
                </a:lnTo>
                <a:lnTo>
                  <a:pt x="0" y="7251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/>
            </a:gradFill>
          </a:ln>
        </p:spPr>
      </p:pic>
      <p:sp>
        <p:nvSpPr>
          <p:cNvPr id="4" name="Freeform 4"/>
          <p:cNvSpPr/>
          <p:nvPr/>
        </p:nvSpPr>
        <p:spPr>
          <a:xfrm flipH="1">
            <a:off x="11085830" y="6006465"/>
            <a:ext cx="216000" cy="2160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0255" y="1496695"/>
            <a:ext cx="6374765" cy="585470"/>
          </a:xfrm>
          <a:custGeom>
            <a:avLst/>
            <a:gdLst/>
            <a:ahLst/>
            <a:cxnLst/>
            <a:rect l="l" t="t" r="r" b="b"/>
            <a:pathLst>
              <a:path w="10573" h="1032">
                <a:moveTo>
                  <a:pt x="10573" y="0"/>
                </a:moveTo>
                <a:lnTo>
                  <a:pt x="10573" y="545"/>
                </a:lnTo>
                <a:lnTo>
                  <a:pt x="9607" y="1032"/>
                </a:lnTo>
                <a:lnTo>
                  <a:pt x="0" y="1032"/>
                </a:lnTo>
                <a:lnTo>
                  <a:pt x="0" y="487"/>
                </a:lnTo>
                <a:lnTo>
                  <a:pt x="544" y="9"/>
                </a:lnTo>
                <a:lnTo>
                  <a:pt x="10573" y="0"/>
                </a:lnTo>
                <a:close/>
              </a:path>
            </a:pathLst>
          </a:custGeom>
          <a:noFill/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</a:gradFill>
          </a:ln>
        </p:spPr>
        <p:txBody>
          <a:bodyPr rot="0" vert="horz" wrap="square" lIns="252095" tIns="0" rIns="0" bIns="0" anchor="ctr">
            <a:noAutofit/>
          </a:bodyPr>
          <a:lstStyle/>
          <a:p>
            <a:pPr marL="0" algn="l"/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GGUF Model Downloads and Inference</a:t>
            </a:r>
          </a:p>
        </p:txBody>
      </p:sp>
      <p:sp>
        <p:nvSpPr>
          <p:cNvPr id="6" name="Freeform 6"/>
          <p:cNvSpPr/>
          <p:nvPr/>
        </p:nvSpPr>
        <p:spPr>
          <a:xfrm>
            <a:off x="718820" y="1993900"/>
            <a:ext cx="161925" cy="2159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1136015" y="1428115"/>
            <a:ext cx="3743960" cy="36195"/>
          </a:xfrm>
          <a:custGeom>
            <a:avLst/>
            <a:gdLst/>
            <a:ahLst/>
            <a:cxnLst/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86000">
                <a:schemeClr val="accent1">
                  <a:alpha val="0"/>
                </a:schemeClr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70255" y="4003040"/>
            <a:ext cx="6374765" cy="585470"/>
          </a:xfrm>
          <a:custGeom>
            <a:avLst/>
            <a:gdLst/>
            <a:ahLst/>
            <a:cxnLst/>
            <a:rect l="l" t="t" r="r" b="b"/>
            <a:pathLst>
              <a:path w="10573" h="1032">
                <a:moveTo>
                  <a:pt x="10573" y="0"/>
                </a:moveTo>
                <a:lnTo>
                  <a:pt x="10573" y="545"/>
                </a:lnTo>
                <a:lnTo>
                  <a:pt x="9607" y="1032"/>
                </a:lnTo>
                <a:lnTo>
                  <a:pt x="0" y="1032"/>
                </a:lnTo>
                <a:lnTo>
                  <a:pt x="0" y="487"/>
                </a:lnTo>
                <a:lnTo>
                  <a:pt x="544" y="9"/>
                </a:lnTo>
                <a:lnTo>
                  <a:pt x="10573" y="0"/>
                </a:lnTo>
                <a:close/>
              </a:path>
            </a:pathLst>
          </a:custGeom>
          <a:noFill/>
          <a:ln w="6350">
            <a:gradFill>
              <a:gsLst>
                <a:gs pos="0">
                  <a:schemeClr val="accent1">
                    <a:alpha val="10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</a:gradFill>
          </a:ln>
        </p:spPr>
        <p:txBody>
          <a:bodyPr rot="0" vert="horz" wrap="square" lIns="252095" tIns="0" rIns="0" bIns="0" anchor="ctr">
            <a:noAutofit/>
          </a:bodyPr>
          <a:lstStyle/>
          <a:p>
            <a:pPr marL="0" algn="l"/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Dynamic Recommendation and Mobile Optimization</a:t>
            </a:r>
          </a:p>
        </p:txBody>
      </p:sp>
      <p:sp>
        <p:nvSpPr>
          <p:cNvPr id="9" name="Freeform 9"/>
          <p:cNvSpPr/>
          <p:nvPr/>
        </p:nvSpPr>
        <p:spPr>
          <a:xfrm>
            <a:off x="718820" y="4500245"/>
            <a:ext cx="161925" cy="2159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 flipV="1">
            <a:off x="1136015" y="3934460"/>
            <a:ext cx="3743960" cy="36195"/>
          </a:xfrm>
          <a:custGeom>
            <a:avLst/>
            <a:gdLst/>
            <a:ahLst/>
            <a:cxnLst/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86000">
                <a:schemeClr val="accent1">
                  <a:alpha val="0"/>
                </a:schemeClr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902335" y="2221230"/>
            <a:ext cx="6242685" cy="1646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system facilitates GGUF model downloads and uses llama.cpp JNI for local inference. It enables token-by-token streaming for a seamless user experience.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902335" y="4723765"/>
            <a:ext cx="6242685" cy="1646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 dynamic recommendation engine is integrated to suggest models, and the entire system is designed for fully offline usage with specific mobile optimizations.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System Functionality Explained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to="" calcmode="lin" valueType="num">
                                      <p:cBhvr>
                                        <p:cTn id="6" dur="1" fill="hold"/>
                                        <p:tgtEl>
                                          <p:spTgt spid="14"/>
                                        </p:tgtEl>
                                      </p:cBhvr>
                                    </p:anim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8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3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3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2951058"/>
          </a:xfrm>
          <a:custGeom>
            <a:avLst/>
            <a:gdLst/>
            <a:ahLst/>
            <a:cxnLst/>
            <a:rect l="l" t="t" r="r" b="b"/>
            <a:pathLst>
              <a:path w="12192000" h="2663748">
                <a:moveTo>
                  <a:pt x="0" y="0"/>
                </a:moveTo>
                <a:lnTo>
                  <a:pt x="12192000" y="0"/>
                </a:lnTo>
                <a:lnTo>
                  <a:pt x="12192000" y="2663748"/>
                </a:lnTo>
                <a:lnTo>
                  <a:pt x="0" y="2663748"/>
                </a:lnTo>
                <a:close/>
              </a:path>
            </a:pathLst>
          </a:custGeom>
          <a:solidFill>
            <a:srgbClr val="EDF2F2"/>
          </a:solidFill>
          <a:ln>
            <a:noFill/>
            <a:prstDash val="solid"/>
          </a:ln>
          <a:effectLst/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100445" y="1935480"/>
            <a:ext cx="5368290" cy="4079875"/>
          </a:xfrm>
          <a:prstGeom prst="rect">
            <a:avLst/>
          </a:prstGeom>
          <a:solidFill>
            <a:srgbClr val="FFFFFF"/>
          </a:solidFill>
          <a:ln>
            <a:noFill/>
            <a:prstDash val="solid"/>
          </a:ln>
          <a:effectLst>
            <a:outerShdw blurRad="177800" dist="88900" dir="12000000" algn="t" rotWithShape="0">
              <a:schemeClr val="accent1">
                <a:alpha val="8000"/>
                <a:lumMod val="75000"/>
              </a:schemeClr>
            </a:outerShdw>
          </a:effectLst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4" name="image69.jpeg"/>
          <p:cNvPicPr>
            <a:picLocks noChangeAspect="1"/>
          </p:cNvPicPr>
          <p:nvPr/>
        </p:nvPicPr>
        <p:blipFill>
          <a:blip r:embed="rId3"/>
          <a:srcRect l="4818" r="4818"/>
          <a:stretch>
            <a:fillRect/>
          </a:stretch>
        </p:blipFill>
        <p:spPr>
          <a:xfrm>
            <a:off x="6320155" y="2153285"/>
            <a:ext cx="4929505" cy="364426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822325" y="2383473"/>
            <a:ext cx="5039995" cy="3413760"/>
            <a:chOff x="1805" y="3432"/>
            <a:chExt cx="7937" cy="5376"/>
          </a:xfrm>
        </p:grpSpPr>
        <p:sp>
          <p:nvSpPr>
            <p:cNvPr id="6" name="TextBox 6"/>
            <p:cNvSpPr txBox="1"/>
            <p:nvPr/>
          </p:nvSpPr>
          <p:spPr>
            <a:xfrm>
              <a:off x="1805" y="4282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HAYA is fundamentally an offline-first solution, ensuring low latency and a strong focus on user privacy. It is also device-adaptive to various Android hardware.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05" y="3432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2AB6E"/>
                  </a:solidFill>
                  <a:latin typeface="思源黑体 Normal"/>
                  <a:ea typeface="思源黑体 Normal"/>
                </a:rPr>
                <a:t>Offline-First and Privacy-Focused Design</a:t>
              </a:r>
              <a:endParaRPr lang="en-US" sz="1100"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Key Characteristics</a:t>
            </a:r>
            <a:endParaRPr lang="en-US" sz="1100"/>
          </a:p>
        </p:txBody>
      </p:sp>
    </p:spTree>
  </p:cSld>
  <p:clrMapOvr>
    <a:masterClrMapping/>
  </p:clrMapOvr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04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Platform &amp; Technology Stack</a:t>
            </a:r>
            <a:endParaRPr lang="en-US" sz="1100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700" y="1528982"/>
            <a:ext cx="10848976" cy="4549862"/>
            <a:chOff x="671512" y="1814732"/>
            <a:chExt cx="10848976" cy="4549862"/>
          </a:xfrm>
        </p:grpSpPr>
        <p:cxnSp>
          <p:nvCxnSpPr>
            <p:cNvPr id="3" name="Connector 3"/>
            <p:cNvCxnSpPr/>
            <p:nvPr/>
          </p:nvCxnSpPr>
          <p:spPr>
            <a:xfrm>
              <a:off x="6115050" y="4152949"/>
              <a:ext cx="0" cy="2211645"/>
            </a:xfrm>
            <a:prstGeom prst="line">
              <a:avLst/>
            </a:prstGeom>
            <a:ln w="6350" cap="rnd">
              <a:solidFill>
                <a:schemeClr val="tx2">
                  <a:alpha val="50000"/>
                </a:schemeClr>
              </a:solidFill>
            </a:ln>
          </p:spPr>
        </p:cxnSp>
        <p:grpSp>
          <p:nvGrpSpPr>
            <p:cNvPr id="4" name="Group 4"/>
            <p:cNvGrpSpPr/>
            <p:nvPr/>
          </p:nvGrpSpPr>
          <p:grpSpPr>
            <a:xfrm>
              <a:off x="671512" y="1814732"/>
              <a:ext cx="10848976" cy="2177071"/>
              <a:chOff x="671512" y="1814732"/>
              <a:chExt cx="10848976" cy="2177071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71512" y="1814732"/>
                <a:ext cx="10848976" cy="1776193"/>
              </a:xfrm>
              <a:prstGeom prst="rect">
                <a:avLst/>
              </a:prstGeom>
              <a:blipFill rotWithShape="1">
                <a:blip r:embed="rId3"/>
                <a:stretch>
                  <a:fillRect l="7" t="-147894" r="-7" b="-147244"/>
                </a:stretch>
              </a:blipFill>
              <a:ln cap="flat" cmpd="sng">
                <a:noFill/>
                <a:prstDash val="solid"/>
                <a:miter lim="800000"/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2829838" y="3156181"/>
                <a:ext cx="835622" cy="835622"/>
              </a:xfrm>
              <a:prstGeom prst="ellipse">
                <a:avLst/>
              </a:prstGeom>
              <a:solidFill>
                <a:srgbClr val="D2AB6E"/>
              </a:solidFill>
              <a:ln>
                <a:noFill/>
              </a:ln>
              <a:effectLst/>
            </p:spPr>
            <p:txBody>
              <a:bodyPr vert="horz" lIns="90170" tIns="46990" rIns="90170" bIns="46990" anchor="ctr">
                <a:normAutofit/>
              </a:bodyPr>
              <a:lstStyle/>
              <a:p>
                <a:pPr marL="0" algn="ctr"/>
                <a:endParaRPr/>
              </a:p>
            </p:txBody>
          </p:sp>
        </p:grpSp>
        <p:sp>
          <p:nvSpPr>
            <p:cNvPr id="7" name="AutoShape 7"/>
            <p:cNvSpPr/>
            <p:nvPr/>
          </p:nvSpPr>
          <p:spPr>
            <a:xfrm>
              <a:off x="8590040" y="3156181"/>
              <a:ext cx="835622" cy="835622"/>
            </a:xfrm>
            <a:prstGeom prst="ellipse">
              <a:avLst/>
            </a:prstGeom>
            <a:solidFill>
              <a:srgbClr val="D2AB6E"/>
            </a:solidFill>
            <a:ln>
              <a:noFill/>
            </a:ln>
            <a:effectLst/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806065" y="2943860"/>
            <a:ext cx="84074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563610" y="2960370"/>
            <a:ext cx="838200" cy="6794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24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77597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Android SDK and Kotlin Framework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7597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The application is built for Android with minSdk 26 and targetSdk 35. It is developed using Kotlin, Jetpack Compose, and leverages Coroutines and StateFlow for asynchronous operations.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01460" y="3756660"/>
            <a:ext cx="4896000" cy="43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88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Native and Inference Technologies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1460" y="432181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The core inference relies on JNI, C++, and the llama.cpp library for executing GGUF models directly on the device.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Android Configuration and Core Technologies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05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System Architecture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ssolv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4A1529D-AEE9-31D9-F911-B9F30CE68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704" y="413916"/>
            <a:ext cx="9078592" cy="6030167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8E5CA8-28E9-1970-5B7E-19A71FB88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FE52D6CB-B62A-9F67-0F22-24E7D71BC1D2}"/>
              </a:ext>
            </a:extLst>
          </p:cNvPr>
          <p:cNvGrpSpPr/>
          <p:nvPr/>
        </p:nvGrpSpPr>
        <p:grpSpPr>
          <a:xfrm>
            <a:off x="1023620" y="1551940"/>
            <a:ext cx="5435600" cy="4601210"/>
            <a:chOff x="1657" y="2489"/>
            <a:chExt cx="8560" cy="7246"/>
          </a:xfrm>
        </p:grpSpPr>
        <p:sp>
          <p:nvSpPr>
            <p:cNvPr id="7" name="AutoShape 7">
              <a:extLst>
                <a:ext uri="{FF2B5EF4-FFF2-40B4-BE49-F238E27FC236}">
                  <a16:creationId xmlns:a16="http://schemas.microsoft.com/office/drawing/2014/main" id="{3068932A-C20D-8E5B-FDAE-C5C72D128AA9}"/>
                </a:ext>
              </a:extLst>
            </p:cNvPr>
            <p:cNvSpPr/>
            <p:nvPr/>
          </p:nvSpPr>
          <p:spPr>
            <a:xfrm>
              <a:off x="1657" y="335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architecture is divided into layers: a UI Layer with Jetpack Compose and StateFlow, a Domain Layer containing business logic, and an Inference Layer with JNI Bridge and llama.cpp Runtime.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64817EF-C0A0-561C-CD2D-219059C5216B}"/>
                </a:ext>
              </a:extLst>
            </p:cNvPr>
            <p:cNvSpPr txBox="1"/>
            <p:nvPr/>
          </p:nvSpPr>
          <p:spPr>
            <a:xfrm>
              <a:off x="1657" y="2489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D2AB6E"/>
                  </a:solidFill>
                  <a:latin typeface="思源黑体 Normal"/>
                  <a:ea typeface="思源黑体 Normal"/>
                </a:rPr>
                <a:t>UI, Domain, and Inference Layers</a:t>
              </a:r>
              <a:endParaRPr lang="en-US" sz="1100"/>
            </a:p>
          </p:txBody>
        </p:sp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5559A05D-1DEB-C4C9-277C-AF3238260002}"/>
                </a:ext>
              </a:extLst>
            </p:cNvPr>
            <p:cNvSpPr/>
            <p:nvPr/>
          </p:nvSpPr>
          <p:spPr>
            <a:xfrm>
              <a:off x="1657" y="707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The Storage Layer manages downloaded models and app storage. The system clearly separates UI from inference and manages streaming and model loading flows.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916CF4EA-48C2-DE28-A24B-88C97090F7FC}"/>
                </a:ext>
              </a:extLst>
            </p:cNvPr>
            <p:cNvSpPr txBox="1"/>
            <p:nvPr/>
          </p:nvSpPr>
          <p:spPr>
            <a:xfrm>
              <a:off x="1657" y="6226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D2AB6E"/>
                  </a:solidFill>
                  <a:latin typeface="思源黑体 Normal"/>
                  <a:ea typeface="思源黑体 Normal"/>
                </a:rPr>
                <a:t>Storage and Data Flow</a:t>
              </a:r>
              <a:endParaRPr lang="en-US" sz="1100"/>
            </a:p>
          </p:txBody>
        </p:sp>
      </p:grpSp>
      <p:sp>
        <p:nvSpPr>
          <p:cNvPr id="11" name="Freeform 11">
            <a:extLst>
              <a:ext uri="{FF2B5EF4-FFF2-40B4-BE49-F238E27FC236}">
                <a16:creationId xmlns:a16="http://schemas.microsoft.com/office/drawing/2014/main" id="{B2DDC201-DF0D-3E42-3AC6-FA0E45CE3B2A}"/>
              </a:ext>
            </a:extLst>
          </p:cNvPr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D41D6F7-C240-9039-3E2E-4F595BCFECCE}"/>
              </a:ext>
            </a:extLst>
          </p:cNvPr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Layered Architecture Overview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2257210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06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Core Features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 fmla="#ppt_h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15645" y="4505960"/>
            <a:ext cx="5078095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4" name="AutoShape 4"/>
          <p:cNvSpPr/>
          <p:nvPr/>
        </p:nvSpPr>
        <p:spPr>
          <a:xfrm>
            <a:off x="646430" y="3968115"/>
            <a:ext cx="637540" cy="54000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01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448425" y="4505960"/>
            <a:ext cx="5066030" cy="0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7" name="AutoShape 7"/>
          <p:cNvSpPr/>
          <p:nvPr/>
        </p:nvSpPr>
        <p:spPr>
          <a:xfrm>
            <a:off x="6448425" y="4532630"/>
            <a:ext cx="506603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system includes a recommendation engine, safe lifecycle handling to prevent errors, and an optimized mobile UI for smooth interactions.</a:t>
            </a:r>
          </a:p>
        </p:txBody>
      </p:sp>
      <p:sp>
        <p:nvSpPr>
          <p:cNvPr id="8" name="AutoShape 8"/>
          <p:cNvSpPr/>
          <p:nvPr/>
        </p:nvSpPr>
        <p:spPr>
          <a:xfrm>
            <a:off x="6329045" y="3968115"/>
            <a:ext cx="637540" cy="54000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80860" y="3968115"/>
            <a:ext cx="463359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Mobile-Optimized UI and Safety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4375" y="4532630"/>
            <a:ext cx="506603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HAYA provides local GGUF model support and uses JNI-based native inference for efficient processing. It enables real-time streaming and fully offline chat capability.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6810" y="3968115"/>
            <a:ext cx="463359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Local Model Support and Native Inference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Foundational System Capabilities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0CA872-62E1-DA5B-83D7-4614F0EF7B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24" y="1265400"/>
            <a:ext cx="11254951" cy="2119939"/>
          </a:xfrm>
          <a:prstGeom prst="rect">
            <a:avLst/>
          </a:prstGeom>
        </p:spPr>
      </p:pic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4)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07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Streaming &amp; User Experience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edge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2787" y="1479357"/>
            <a:ext cx="10804527" cy="2221736"/>
          </a:xfrm>
          <a:prstGeom prst="plaque">
            <a:avLst>
              <a:gd name="adj" fmla="val 9919"/>
            </a:avLst>
          </a:prstGeom>
          <a:solidFill>
            <a:srgbClr val="FFFFFF"/>
          </a:solidFill>
          <a:ln>
            <a:solidFill>
              <a:srgbClr val="D2AB6E"/>
            </a:solidFill>
          </a:ln>
          <a:effectLst>
            <a:outerShdw blurRad="190500" dist="127000" dir="2700000" sx="95000" sy="95000" algn="tl" rotWithShape="0">
              <a:schemeClr val="accent1">
                <a:alpha val="10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07430" y="1599407"/>
            <a:ext cx="10614821" cy="1982147"/>
          </a:xfrm>
          <a:prstGeom prst="plaque">
            <a:avLst>
              <a:gd name="adj" fmla="val 9919"/>
            </a:avLst>
          </a:prstGeom>
          <a:solidFill>
            <a:srgbClr val="EDF2F2"/>
          </a:solidFill>
          <a:ln>
            <a:solidFill>
              <a:srgbClr val="D2AB6E">
                <a:alpha val="50000"/>
              </a:srgbClr>
            </a:solidFill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514596" y="1977979"/>
            <a:ext cx="0" cy="122436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</a:ln>
        </p:spPr>
      </p:cxnSp>
      <p:sp>
        <p:nvSpPr>
          <p:cNvPr id="5" name="AutoShape 5"/>
          <p:cNvSpPr/>
          <p:nvPr/>
        </p:nvSpPr>
        <p:spPr>
          <a:xfrm>
            <a:off x="712787" y="4041065"/>
            <a:ext cx="10804527" cy="2221736"/>
          </a:xfrm>
          <a:prstGeom prst="plaque">
            <a:avLst>
              <a:gd name="adj" fmla="val 9919"/>
            </a:avLst>
          </a:prstGeom>
          <a:solidFill>
            <a:srgbClr val="FFFFFF"/>
          </a:solidFill>
          <a:ln>
            <a:solidFill>
              <a:srgbClr val="D2AB6E"/>
            </a:solidFill>
          </a:ln>
          <a:effectLst>
            <a:outerShdw blurRad="190500" dist="127000" dir="2700000" sx="95000" sy="95000" algn="tl" rotWithShape="0">
              <a:schemeClr val="accent1">
                <a:alpha val="10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07430" y="4160481"/>
            <a:ext cx="10614821" cy="1982147"/>
          </a:xfrm>
          <a:prstGeom prst="plaque">
            <a:avLst>
              <a:gd name="adj" fmla="val 9919"/>
            </a:avLst>
          </a:prstGeom>
          <a:solidFill>
            <a:srgbClr val="EDF2F2"/>
          </a:solidFill>
          <a:ln>
            <a:solidFill>
              <a:srgbClr val="D2AB6E">
                <a:alpha val="50000"/>
              </a:srgbClr>
            </a:solidFill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7" name="Connector 7"/>
          <p:cNvCxnSpPr/>
          <p:nvPr/>
        </p:nvCxnSpPr>
        <p:spPr>
          <a:xfrm>
            <a:off x="3514596" y="4539687"/>
            <a:ext cx="0" cy="1224360"/>
          </a:xfrm>
          <a:prstGeom prst="line">
            <a:avLst/>
          </a:prstGeom>
          <a:ln w="12700" cap="flat" cmpd="sng">
            <a:solidFill>
              <a:schemeClr val="accent1"/>
            </a:solidFill>
            <a:prstDash val="solid"/>
          </a:ln>
        </p:spPr>
      </p:cxnSp>
      <p:sp>
        <p:nvSpPr>
          <p:cNvPr id="8" name="TextBox 8"/>
          <p:cNvSpPr txBox="1"/>
          <p:nvPr/>
        </p:nvSpPr>
        <p:spPr>
          <a:xfrm>
            <a:off x="1047115" y="1820000"/>
            <a:ext cx="2160000" cy="14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Token-by-Token Streaming and Visual Indicators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047115" y="4415155"/>
            <a:ext cx="2160000" cy="14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Smart Interaction and Scrolling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22065" y="1765935"/>
            <a:ext cx="7308215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user experience is defined by token-by-token streaming, complemented by a thinking indicator and a blinking cursor for immediate feedback.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822065" y="4361090"/>
            <a:ext cx="7308215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Features include incremental rendering, smooth transitions, and low-latency updates. Smart auto-scroll, a jump-to-bottom button, and streaming-safe scrolling enhance usability.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Real-Time Interaction Features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vertical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08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Markdown &amp; Code Rendering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 rot="-10800000">
            <a:off x="2148695" y="1338360"/>
            <a:ext cx="9000000" cy="2304000"/>
          </a:xfrm>
          <a:prstGeom prst="rect">
            <a:avLst/>
          </a:prstGeom>
          <a:solidFill>
            <a:srgbClr val="EDF2F2"/>
          </a:solidFill>
          <a:ln>
            <a:solidFill>
              <a:schemeClr val="accent1"/>
            </a:solidFill>
          </a:ln>
        </p:spPr>
        <p:txBody>
          <a:bodyPr vert="horz" lIns="50800" tIns="50800" rIns="50800" bIns="50800" rtlCol="0" anchor="ctr">
            <a:normAutofit/>
          </a:bodyPr>
          <a:lstStyle/>
          <a:p>
            <a:pPr marL="0" indent="0" algn="ctr">
              <a:lnSpc>
                <a:spcPts val="2725"/>
              </a:lnSpc>
              <a:spcBef>
                <a:spcPct val="0"/>
              </a:spcBef>
              <a:defRPr/>
            </a:pP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 rot="-10800000">
            <a:off x="2148695" y="4026950"/>
            <a:ext cx="9000000" cy="2304000"/>
          </a:xfrm>
          <a:prstGeom prst="rect">
            <a:avLst/>
          </a:prstGeom>
          <a:solidFill>
            <a:srgbClr val="EDF2F2"/>
          </a:solidFill>
          <a:ln>
            <a:solidFill>
              <a:schemeClr val="accent1"/>
            </a:solidFill>
          </a:ln>
        </p:spPr>
        <p:txBody>
          <a:bodyPr vert="horz" lIns="50800" tIns="50800" rIns="50800" bIns="50800" rtlCol="0" anchor="ctr">
            <a:normAutofit/>
          </a:bodyPr>
          <a:lstStyle/>
          <a:p>
            <a:pPr marL="0" indent="0" algn="ctr">
              <a:lnSpc>
                <a:spcPts val="2725"/>
              </a:lnSpc>
              <a:spcBef>
                <a:spcPct val="0"/>
              </a:spcBef>
              <a:defRPr/>
            </a:pPr>
            <a:endParaRPr lang="en-US" sz="1100"/>
          </a:p>
        </p:txBody>
      </p:sp>
      <p:grpSp>
        <p:nvGrpSpPr>
          <p:cNvPr id="4" name="Group 4"/>
          <p:cNvGrpSpPr/>
          <p:nvPr/>
        </p:nvGrpSpPr>
        <p:grpSpPr>
          <a:xfrm>
            <a:off x="928370" y="4625865"/>
            <a:ext cx="1106170" cy="1106170"/>
            <a:chOff x="892" y="7111"/>
            <a:chExt cx="1742" cy="1742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5" name="Freeform 5"/>
            <p:cNvSpPr/>
            <p:nvPr/>
          </p:nvSpPr>
          <p:spPr>
            <a:xfrm>
              <a:off x="892" y="7111"/>
              <a:ext cx="1742" cy="1742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AB6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083" y="7408"/>
              <a:ext cx="1361" cy="114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02</a:t>
              </a:r>
              <a:endParaRPr lang="en-US" sz="11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28545" y="476758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Users can copy the full message or individual code blocks. The terminal-style rendering provides a familiar coding environment.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2328545" y="4227195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Additional User Features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2328545" y="2076450"/>
            <a:ext cx="8639810" cy="136779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system includes lightweight markdown support with syntax-highlighted code blocks. Keywords are blue, strings are green, and comments are gray for better readability.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928370" y="1937275"/>
            <a:ext cx="1106170" cy="1106170"/>
            <a:chOff x="1237" y="3051"/>
            <a:chExt cx="1742" cy="1742"/>
          </a:xfrm>
        </p:grpSpPr>
        <p:sp>
          <p:nvSpPr>
            <p:cNvPr id="11" name="Freeform 11"/>
            <p:cNvSpPr/>
            <p:nvPr/>
          </p:nvSpPr>
          <p:spPr>
            <a:xfrm>
              <a:off x="1237" y="3051"/>
              <a:ext cx="1742" cy="1742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2AB6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28" y="3348"/>
              <a:ext cx="1361" cy="1148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0" tIns="0" rIns="0" bIns="0" rtlCol="0" anchor="ctr" anchorCtr="1">
              <a:normAutofit/>
            </a:bodyPr>
            <a:lstStyle/>
            <a:p>
              <a:pPr marL="0" indent="0" algn="ctr" fontAlgn="auto">
                <a:lnSpc>
                  <a:spcPct val="100000"/>
                </a:lnSpc>
                <a:defRPr/>
              </a:pPr>
              <a:r>
                <a:rPr lang="en-US" sz="3200" b="0" i="0" u="none" baseline="0">
                  <a:solidFill>
                    <a:srgbClr val="FFFFFF"/>
                  </a:solidFill>
                  <a:latin typeface="思源黑体 Normal"/>
                  <a:ea typeface="思源黑体 Normal"/>
                </a:rPr>
                <a:t>01</a:t>
              </a:r>
              <a:endParaRPr lang="en-US" sz="1100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328545" y="1536700"/>
            <a:ext cx="863981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Syntax Highlighting and Code Blocks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Lightweight Markdown Support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2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09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Device Profiling &amp; Recommendation Engine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6595" y="2295525"/>
            <a:ext cx="5102225" cy="3612515"/>
          </a:xfrm>
          <a:prstGeom prst="roundRect">
            <a:avLst>
              <a:gd name="adj" fmla="val 0"/>
            </a:avLst>
          </a:prstGeom>
          <a:solidFill>
            <a:srgbClr val="EDF2F2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61390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D2AB6E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Normal"/>
                <a:ea typeface="思源黑体 Normal"/>
              </a:rPr>
              <a:t>01</a:t>
            </a:r>
          </a:p>
        </p:txBody>
      </p:sp>
      <p:cxnSp>
        <p:nvCxnSpPr>
          <p:cNvPr id="4" name="Connector 4"/>
          <p:cNvCxnSpPr/>
          <p:nvPr/>
        </p:nvCxnSpPr>
        <p:spPr>
          <a:xfrm flipV="1">
            <a:off x="916305" y="3330575"/>
            <a:ext cx="4662805" cy="0"/>
          </a:xfrm>
          <a:prstGeom prst="line">
            <a:avLst/>
          </a:prstGeom>
          <a:ln w="22225">
            <a:solidFill>
              <a:srgbClr val="D2AB6E">
                <a:alpha val="50000"/>
              </a:srgbClr>
            </a:solidFill>
          </a:ln>
        </p:spPr>
      </p:cxnSp>
      <p:sp>
        <p:nvSpPr>
          <p:cNvPr id="5" name="AutoShape 5"/>
          <p:cNvSpPr/>
          <p:nvPr/>
        </p:nvSpPr>
        <p:spPr>
          <a:xfrm>
            <a:off x="6393815" y="2295525"/>
            <a:ext cx="5102225" cy="3612515"/>
          </a:xfrm>
          <a:prstGeom prst="roundRect">
            <a:avLst>
              <a:gd name="adj" fmla="val 0"/>
            </a:avLst>
          </a:prstGeom>
          <a:solidFill>
            <a:srgbClr val="EDF2F2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657975" y="1760855"/>
            <a:ext cx="793750" cy="777875"/>
          </a:xfrm>
          <a:prstGeom prst="roundRect">
            <a:avLst>
              <a:gd name="adj" fmla="val 0"/>
            </a:avLst>
          </a:prstGeom>
          <a:solidFill>
            <a:srgbClr val="D2AB6E"/>
          </a:solidFill>
          <a:ln>
            <a:noFill/>
          </a:ln>
          <a:effectLst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chemeClr val="lt1"/>
                </a:solidFill>
                <a:latin typeface="思源黑体 Normal"/>
                <a:ea typeface="思源黑体 Normal"/>
              </a:rPr>
              <a:t>02</a:t>
            </a:r>
          </a:p>
        </p:txBody>
      </p:sp>
      <p:cxnSp>
        <p:nvCxnSpPr>
          <p:cNvPr id="7" name="Connector 7"/>
          <p:cNvCxnSpPr/>
          <p:nvPr/>
        </p:nvCxnSpPr>
        <p:spPr>
          <a:xfrm flipV="1">
            <a:off x="6614160" y="3336290"/>
            <a:ext cx="4662170" cy="0"/>
          </a:xfrm>
          <a:prstGeom prst="line">
            <a:avLst/>
          </a:prstGeom>
          <a:ln w="22225">
            <a:solidFill>
              <a:srgbClr val="D2AB6E">
                <a:alpha val="50000"/>
              </a:srgbClr>
            </a:solidFill>
          </a:ln>
        </p:spPr>
      </p:cxn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Hardware-Aware Model Selection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10" name="TextBox 10"/>
          <p:cNvSpPr txBox="1"/>
          <p:nvPr/>
        </p:nvSpPr>
        <p:spPr>
          <a:xfrm>
            <a:off x="961390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Device Profiling Metrics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961390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engine profiles devices by detecting RAM, CPU cores, and ABI architecture. It calculates an estimated RAM requirement using the formula: estimatedRam = modelSize × 1.4.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657975" y="3343275"/>
            <a:ext cx="4536000" cy="216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ratio of usable RAM to estimated RAM determines the model category: FAST, BALANCED, SLOW, or RISKY. This enables dynamic and flexible model selection.</a:t>
            </a: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  <a:p>
            <a:pPr marL="0" indent="0" algn="r" fontAlgn="auto">
              <a:lnSpc>
                <a:spcPct val="150000"/>
              </a:lnSpc>
            </a:pP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57975" y="2796540"/>
            <a:ext cx="4535805" cy="5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9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Recommendation Logic and Categories</a:t>
            </a:r>
            <a:endParaRPr lang="en-US" sz="1100"/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9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diamond(in)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10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 dirty="0">
                <a:solidFill>
                  <a:srgbClr val="D2AB6E"/>
                </a:solidFill>
                <a:latin typeface="思源黑体 Medium"/>
                <a:ea typeface="思源黑体 Medium"/>
              </a:rPr>
              <a:t>Model Hub &amp; Download System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.jpeg"/>
          <p:cNvPicPr>
            <a:picLocks noChangeAspect="1"/>
          </p:cNvPicPr>
          <p:nvPr/>
        </p:nvPicPr>
        <p:blipFill rotWithShape="1">
          <a:blip r:embed="rId3"/>
          <a:srcRect t="15376" b="15376"/>
          <a:stretch>
            <a:fillRect/>
          </a:stretch>
        </p:blipFill>
        <p:spPr>
          <a:xfrm>
            <a:off x="838200" y="4048125"/>
            <a:ext cx="4319905" cy="1993900"/>
          </a:xfrm>
          <a:custGeom>
            <a:avLst/>
            <a:gdLst/>
            <a:ahLst/>
            <a:cxnLst/>
            <a:rect l="0" t="0" r="0" b="0"/>
            <a:pathLst>
              <a:path w="4258967" h="1965412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3" name="image16.jpeg"/>
          <p:cNvPicPr>
            <a:picLocks noChangeAspect="1"/>
          </p:cNvPicPr>
          <p:nvPr/>
        </p:nvPicPr>
        <p:blipFill rotWithShape="1">
          <a:blip r:embed="rId4"/>
          <a:srcRect t="15384" b="15384"/>
          <a:stretch>
            <a:fillRect/>
          </a:stretch>
        </p:blipFill>
        <p:spPr>
          <a:xfrm>
            <a:off x="838201" y="1633220"/>
            <a:ext cx="4320000" cy="1993577"/>
          </a:xfrm>
          <a:custGeom>
            <a:avLst/>
            <a:gdLst/>
            <a:ahLst/>
            <a:cxnLst/>
            <a:rect l="0" t="0" r="0" b="0"/>
            <a:pathLst>
              <a:path w="4258967" h="1965412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4" name="TextBox 4"/>
          <p:cNvSpPr txBox="1"/>
          <p:nvPr/>
        </p:nvSpPr>
        <p:spPr>
          <a:xfrm>
            <a:off x="5739130" y="1586865"/>
            <a:ext cx="5689600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Model Hub Features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39130" y="2032312"/>
            <a:ext cx="5689600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Model Hub offers downloadable GGUF models with recommended highlighting and performance indicators. It includes download progress tracking and retry mechanisms on failure.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39130" y="4048125"/>
            <a:ext cx="5689600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Offline Availability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39130" y="4493895"/>
            <a:ext cx="5689600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Models are stored in app-specific storage, ensuring they are available for offline use immediately after download.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Downloadable Models and Management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11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Performance, Stability &amp; Safety</a:t>
            </a:r>
            <a:endParaRPr lang="en-US" sz="1100"/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8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heckerboard(across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2.jpeg"/>
          <p:cNvPicPr>
            <a:picLocks noChangeAspect="1"/>
          </p:cNvPicPr>
          <p:nvPr/>
        </p:nvPicPr>
        <p:blipFill>
          <a:blip r:embed="rId3"/>
          <a:srcRect l="21930" r="21930"/>
          <a:stretch>
            <a:fillRect/>
          </a:stretch>
        </p:blipFill>
        <p:spPr>
          <a:xfrm>
            <a:off x="6700520" y="0"/>
            <a:ext cx="5491480" cy="5495925"/>
          </a:xfrm>
          <a:custGeom>
            <a:avLst/>
            <a:gdLst/>
            <a:ahLst/>
            <a:cxnLst/>
            <a:rect l="0" t="0" r="0" b="0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685165" y="1831975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The system is engineered for smooth streaming, low UI lag, and optimized rendering. It maintains stability even during long-response handling.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85165" y="1292225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Performance Optimizations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685165" y="4518660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Safety features prevent overlapping generations, enable safe cancellation, and perform lifecycle cleanup. GGUF validation and comprehensive error handling are also implemented.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85165" y="3978910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Safety Mechanisms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Ensuring a Reliable Experience</a:t>
            </a:r>
            <a:endParaRPr lang="en-US" sz="11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Scale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12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Output Showcase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up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1F5BB0-A969-0A6E-EF5D-FDE7FD4BE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87520"/>
            <a:ext cx="6172200" cy="6555732"/>
          </a:xfrm>
          <a:prstGeom prst="rect">
            <a:avLst/>
          </a:prstGeom>
        </p:spPr>
      </p:pic>
    </p:spTree>
  </p:cSld>
  <p:clrMapOvr>
    <a:masterClrMapping/>
  </p:clrMapOvr>
  <p:transition spd="med">
    <p:newsfla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FFC5F0-AE11-887C-6C9D-C869651E9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>
            <a:extLst>
              <a:ext uri="{FF2B5EF4-FFF2-40B4-BE49-F238E27FC236}">
                <a16:creationId xmlns:a16="http://schemas.microsoft.com/office/drawing/2014/main" id="{CF3FD364-ABE6-6676-EEDF-8A7C4748510C}"/>
              </a:ext>
            </a:extLst>
          </p:cNvPr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9525">
            <a:solidFill>
              <a:schemeClr val="accent1"/>
            </a:solidFill>
          </a:ln>
        </p:spPr>
      </p:cxnSp>
      <p:sp>
        <p:nvSpPr>
          <p:cNvPr id="3" name="AutoShape 3">
            <a:extLst>
              <a:ext uri="{FF2B5EF4-FFF2-40B4-BE49-F238E27FC236}">
                <a16:creationId xmlns:a16="http://schemas.microsoft.com/office/drawing/2014/main" id="{114EBD28-E36C-7130-4FC5-73576A14E12A}"/>
              </a:ext>
            </a:extLst>
          </p:cNvPr>
          <p:cNvSpPr/>
          <p:nvPr/>
        </p:nvSpPr>
        <p:spPr>
          <a:xfrm>
            <a:off x="660400" y="1731645"/>
            <a:ext cx="4895850" cy="1656715"/>
          </a:xfrm>
          <a:prstGeom prst="roundRect">
            <a:avLst>
              <a:gd name="adj" fmla="val 6867"/>
            </a:avLst>
          </a:prstGeom>
          <a:blipFill rotWithShape="1">
            <a:blip r:embed="rId3"/>
            <a:stretch>
              <a:fillRect l="35" t="-45419" r="-35" b="-4658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D918D2F-FFAC-0D42-574E-FA2D33A801C1}"/>
              </a:ext>
            </a:extLst>
          </p:cNvPr>
          <p:cNvGrpSpPr/>
          <p:nvPr/>
        </p:nvGrpSpPr>
        <p:grpSpPr>
          <a:xfrm>
            <a:off x="2809875" y="3051175"/>
            <a:ext cx="673735" cy="673735"/>
            <a:chOff x="1919536" y="2739155"/>
            <a:chExt cx="504056" cy="504056"/>
          </a:xfrm>
        </p:grpSpPr>
        <p:sp>
          <p:nvSpPr>
            <p:cNvPr id="5" name="AutoShape 5">
              <a:extLst>
                <a:ext uri="{FF2B5EF4-FFF2-40B4-BE49-F238E27FC236}">
                  <a16:creationId xmlns:a16="http://schemas.microsoft.com/office/drawing/2014/main" id="{D48614C2-E8FE-4C00-D840-E066F5493B46}"/>
                </a:ext>
              </a:extLst>
            </p:cNvPr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rgbClr val="D2AB6E"/>
            </a:solidFill>
            <a:ln w="25400">
              <a:solidFill>
                <a:srgbClr val="000000">
                  <a:alpha val="0"/>
                </a:srgbClr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80BBBE0-628C-E224-97B0-48A2C04BB3A9}"/>
                </a:ext>
              </a:extLst>
            </p:cNvPr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0000">
                  <a:alpha val="0"/>
                </a:srgbClr>
              </a:solidFill>
            </a:ln>
          </p:spPr>
          <p:txBody>
            <a:bodyPr vert="horz" lIns="90170" tIns="46990" rIns="90170" bIns="4699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</p:grpSp>
      <p:sp>
        <p:nvSpPr>
          <p:cNvPr id="7" name="AutoShape 7">
            <a:extLst>
              <a:ext uri="{FF2B5EF4-FFF2-40B4-BE49-F238E27FC236}">
                <a16:creationId xmlns:a16="http://schemas.microsoft.com/office/drawing/2014/main" id="{28211F0C-AAEA-991A-8419-E44C1306C579}"/>
              </a:ext>
            </a:extLst>
          </p:cNvPr>
          <p:cNvSpPr/>
          <p:nvPr/>
        </p:nvSpPr>
        <p:spPr>
          <a:xfrm>
            <a:off x="6647815" y="1731645"/>
            <a:ext cx="4895850" cy="1656715"/>
          </a:xfrm>
          <a:prstGeom prst="roundRect">
            <a:avLst>
              <a:gd name="adj" fmla="val 6867"/>
            </a:avLst>
          </a:prstGeom>
          <a:blipFill rotWithShape="1">
            <a:blip r:embed="rId4"/>
            <a:stretch>
              <a:fillRect l="347" t="-45419" r="-347" b="-4658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F7535B07-F245-3F25-242A-FF25BC096533}"/>
              </a:ext>
            </a:extLst>
          </p:cNvPr>
          <p:cNvGrpSpPr/>
          <p:nvPr/>
        </p:nvGrpSpPr>
        <p:grpSpPr>
          <a:xfrm>
            <a:off x="8765540" y="3051175"/>
            <a:ext cx="673735" cy="673735"/>
            <a:chOff x="1919536" y="2739155"/>
            <a:chExt cx="504056" cy="504056"/>
          </a:xfrm>
        </p:grpSpPr>
        <p:sp>
          <p:nvSpPr>
            <p:cNvPr id="9" name="AutoShape 9">
              <a:extLst>
                <a:ext uri="{FF2B5EF4-FFF2-40B4-BE49-F238E27FC236}">
                  <a16:creationId xmlns:a16="http://schemas.microsoft.com/office/drawing/2014/main" id="{E4520FE4-AEAB-7424-73DF-1C1C3B708412}"/>
                </a:ext>
              </a:extLst>
            </p:cNvPr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rgbClr val="D2AB6E"/>
            </a:solidFill>
            <a:ln w="25400">
              <a:solidFill>
                <a:srgbClr val="000000">
                  <a:alpha val="0"/>
                </a:srgbClr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6B6DF37-D108-0BF0-CC2F-EA71D795D712}"/>
                </a:ext>
              </a:extLst>
            </p:cNvPr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000000">
                  <a:alpha val="0"/>
                </a:srgbClr>
              </a:solidFill>
            </a:ln>
          </p:spPr>
          <p:txBody>
            <a:bodyPr vert="horz" lIns="90170" tIns="46990" rIns="90170" bIns="4699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C39CEF3-4CD6-C25B-5222-9D0A15AD0579}"/>
              </a:ext>
            </a:extLst>
          </p:cNvPr>
          <p:cNvSpPr txBox="1"/>
          <p:nvPr/>
        </p:nvSpPr>
        <p:spPr>
          <a:xfrm>
            <a:off x="660400" y="3807460"/>
            <a:ext cx="4895850" cy="508635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Chat Interface and Streaming Responses</a:t>
            </a:r>
            <a:endParaRPr lang="en-US" sz="1100"/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DCC9289F-9BE1-5601-062E-AA24B3937784}"/>
              </a:ext>
            </a:extLst>
          </p:cNvPr>
          <p:cNvSpPr/>
          <p:nvPr/>
        </p:nvSpPr>
        <p:spPr>
          <a:xfrm>
            <a:off x="660400" y="431546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ln/>
                <a:solidFill>
                  <a:srgbClr val="333333"/>
                </a:solidFill>
                <a:latin typeface="思源黑体 Normal"/>
                <a:ea typeface="思源黑体 Normal"/>
              </a:rPr>
              <a:t>This section showcases realistic Android UI mockups for the chat interface and streamed responses, demonstrating the practical application of HAYA.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9492A55-4CB2-DCF2-BCE6-35A8FE0F1F8F}"/>
              </a:ext>
            </a:extLst>
          </p:cNvPr>
          <p:cNvSpPr txBox="1"/>
          <p:nvPr/>
        </p:nvSpPr>
        <p:spPr>
          <a:xfrm>
            <a:off x="6647815" y="3807460"/>
            <a:ext cx="4895850" cy="508635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Model Hub and Recommendation System</a:t>
            </a:r>
            <a:endParaRPr lang="en-US" sz="1100"/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1935732-CC65-0F9F-E72F-C0BE5FB4D127}"/>
              </a:ext>
            </a:extLst>
          </p:cNvPr>
          <p:cNvSpPr/>
          <p:nvPr/>
        </p:nvSpPr>
        <p:spPr>
          <a:xfrm>
            <a:off x="6647815" y="431546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Additional mockups illustrate the model hub, recommendation system, markdown rendering, download progress, and smart scrolling UI.</a:t>
            </a: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F88BDFDB-AC32-7F0E-B941-F2633CBB0909}"/>
              </a:ext>
            </a:extLst>
          </p:cNvPr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2E1A8B1-468E-90B1-50AC-156408A09B25}"/>
              </a:ext>
            </a:extLst>
          </p:cNvPr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Realistic Android UI Mockups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71225832"/>
      </p:ext>
    </p:extLst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heel(3)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13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>
                <a:solidFill>
                  <a:srgbClr val="D2AB6E"/>
                </a:solidFill>
                <a:latin typeface="思源黑体 Medium"/>
                <a:ea typeface="思源黑体 Medium"/>
              </a:rPr>
              <a:t>Limitations &amp; Future Enhancements</a:t>
            </a:r>
            <a:endParaRPr lang="en-US" sz="11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80.jpeg"/>
          <p:cNvPicPr>
            <a:picLocks noChangeAspect="1"/>
          </p:cNvPicPr>
          <p:nvPr/>
        </p:nvPicPr>
        <p:blipFill>
          <a:blip r:embed="rId3"/>
          <a:srcRect l="16703" r="16703"/>
          <a:stretch>
            <a:fillRect/>
          </a:stretch>
        </p:blipFill>
        <p:spPr>
          <a:xfrm>
            <a:off x="6325870" y="0"/>
            <a:ext cx="5866130" cy="5869940"/>
          </a:xfrm>
          <a:custGeom>
            <a:avLst/>
            <a:gdLst/>
            <a:ahLst/>
            <a:cxnLst/>
            <a:rect l="0" t="0" r="0" b="0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847725" y="2523490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Current limitations include limited markdown richness, no pause/resume functionality for downloads, and restricted metadata integration.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847725" y="1983740"/>
            <a:ext cx="50400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Known Limitations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6" name="TextBox 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Current System Constraints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randombar(horizontal)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1588930">
            <a:off x="6540336" y="1806132"/>
            <a:ext cx="4409684" cy="4328265"/>
          </a:xfrm>
          <a:custGeom>
            <a:avLst/>
            <a:gdLst/>
            <a:ahLst/>
            <a:cxnLst/>
            <a:rect l="l" t="t" r="r" b="b"/>
            <a:pathLst>
              <a:path w="2879096" h="2825937">
                <a:moveTo>
                  <a:pt x="155801" y="656522"/>
                </a:moveTo>
                <a:cubicBezTo>
                  <a:pt x="280483" y="472785"/>
                  <a:pt x="506988" y="388965"/>
                  <a:pt x="723967" y="435637"/>
                </a:cubicBezTo>
                <a:cubicBezTo>
                  <a:pt x="907228" y="475071"/>
                  <a:pt x="1281656" y="484786"/>
                  <a:pt x="1725140" y="102453"/>
                </a:cubicBezTo>
                <a:cubicBezTo>
                  <a:pt x="1725140" y="102453"/>
                  <a:pt x="2146336" y="-241209"/>
                  <a:pt x="2574960" y="330291"/>
                </a:cubicBezTo>
                <a:cubicBezTo>
                  <a:pt x="3003585" y="901791"/>
                  <a:pt x="2879760" y="1720941"/>
                  <a:pt x="2794035" y="1930491"/>
                </a:cubicBezTo>
                <a:cubicBezTo>
                  <a:pt x="2708310" y="2140041"/>
                  <a:pt x="2460660" y="2835366"/>
                  <a:pt x="1851061" y="2825841"/>
                </a:cubicBezTo>
                <a:cubicBezTo>
                  <a:pt x="1241461" y="2816316"/>
                  <a:pt x="1451011" y="2175093"/>
                  <a:pt x="603286" y="1933729"/>
                </a:cubicBezTo>
                <a:cubicBezTo>
                  <a:pt x="-244440" y="1692366"/>
                  <a:pt x="22260" y="920841"/>
                  <a:pt x="107985" y="739866"/>
                </a:cubicBezTo>
                <a:cubicBezTo>
                  <a:pt x="121606" y="711291"/>
                  <a:pt x="137608" y="683288"/>
                  <a:pt x="155801" y="656522"/>
                </a:cubicBezTo>
                <a:close/>
              </a:path>
            </a:pathLst>
          </a:custGeom>
          <a:noFill/>
          <a:ln w="9525" cap="flat">
            <a:solidFill>
              <a:schemeClr val="accent1"/>
            </a:solidFill>
            <a:prstDash val="solid"/>
            <a:miter lim="800000"/>
          </a:ln>
          <a:effectLst/>
        </p:spPr>
        <p:txBody>
          <a:bodyPr vert="horz" lIns="91440" tIns="45720" rIns="91440" bIns="45720" anchor="ctr"/>
          <a:lstStyle/>
          <a:p>
            <a:pPr marL="0" algn="l"/>
            <a:endParaRPr/>
          </a:p>
        </p:txBody>
      </p:sp>
      <p:pic>
        <p:nvPicPr>
          <p:cNvPr id="3" name="image68.jpeg"/>
          <p:cNvPicPr>
            <a:picLocks noChangeAspect="1"/>
          </p:cNvPicPr>
          <p:nvPr/>
        </p:nvPicPr>
        <p:blipFill rotWithShape="1">
          <a:blip r:embed="rId3"/>
          <a:srcRect l="14093" r="14093"/>
          <a:stretch>
            <a:fillRect/>
          </a:stretch>
        </p:blipFill>
        <p:spPr>
          <a:xfrm rot="21445174">
            <a:off x="6595864" y="1773479"/>
            <a:ext cx="4515311" cy="4189463"/>
          </a:xfrm>
          <a:custGeom>
            <a:avLst/>
            <a:gdLst/>
            <a:ahLst/>
            <a:cxnLst/>
            <a:rect l="0" t="0" r="0" b="0"/>
            <a:pathLst>
              <a:path w="4515311" h="4189463">
                <a:moveTo>
                  <a:pt x="1139864" y="1681"/>
                </a:moveTo>
                <a:cubicBezTo>
                  <a:pt x="1666331" y="38907"/>
                  <a:pt x="1958762" y="680183"/>
                  <a:pt x="3039740" y="494141"/>
                </a:cubicBezTo>
                <a:cubicBezTo>
                  <a:pt x="4370176" y="265163"/>
                  <a:pt x="4513638" y="1507199"/>
                  <a:pt x="4515307" y="1813904"/>
                </a:cubicBezTo>
                <a:cubicBezTo>
                  <a:pt x="4515453" y="1862388"/>
                  <a:pt x="4511932" y="1911661"/>
                  <a:pt x="4504565" y="1960680"/>
                </a:cubicBezTo>
                <a:cubicBezTo>
                  <a:pt x="4454282" y="2297034"/>
                  <a:pt x="4197159" y="2562971"/>
                  <a:pt x="3866646" y="2642434"/>
                </a:cubicBezTo>
                <a:cubicBezTo>
                  <a:pt x="3587485" y="2709528"/>
                  <a:pt x="3064108" y="2944432"/>
                  <a:pt x="2705395" y="3766393"/>
                </a:cubicBezTo>
                <a:cubicBezTo>
                  <a:pt x="2705395" y="3766393"/>
                  <a:pt x="2351807" y="4520184"/>
                  <a:pt x="1381038" y="4015432"/>
                </a:cubicBezTo>
                <a:cubicBezTo>
                  <a:pt x="410268" y="3510681"/>
                  <a:pt x="37969" y="2297647"/>
                  <a:pt x="17349" y="1951491"/>
                </a:cubicBezTo>
                <a:cubicBezTo>
                  <a:pt x="-3270" y="1605335"/>
                  <a:pt x="-122497" y="481134"/>
                  <a:pt x="725429" y="90005"/>
                </a:cubicBezTo>
                <a:cubicBezTo>
                  <a:pt x="884415" y="16668"/>
                  <a:pt x="1018371" y="-6910"/>
                  <a:pt x="1139864" y="1681"/>
                </a:cubicBezTo>
                <a:close/>
              </a:path>
            </a:pathLst>
          </a:custGeom>
          <a:ln w="12700">
            <a:solidFill>
              <a:schemeClr val="accent1">
                <a:lumMod val="60000"/>
                <a:lumOff val="40000"/>
              </a:schemeClr>
            </a:solidFill>
          </a:ln>
        </p:spPr>
      </p:pic>
      <p:sp>
        <p:nvSpPr>
          <p:cNvPr id="4" name="AutoShape 4"/>
          <p:cNvSpPr/>
          <p:nvPr/>
        </p:nvSpPr>
        <p:spPr>
          <a:xfrm>
            <a:off x="8596676" y="1599311"/>
            <a:ext cx="256843" cy="25684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280792" y="5491406"/>
            <a:ext cx="159747" cy="15974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6" name="Group 6"/>
          <p:cNvGrpSpPr/>
          <p:nvPr/>
        </p:nvGrpSpPr>
        <p:grpSpPr>
          <a:xfrm>
            <a:off x="825500" y="2161330"/>
            <a:ext cx="5425440" cy="3413760"/>
            <a:chOff x="1300" y="3002"/>
            <a:chExt cx="8544" cy="5376"/>
          </a:xfrm>
        </p:grpSpPr>
        <p:sp>
          <p:nvSpPr>
            <p:cNvPr id="7" name="TextBox 7"/>
            <p:cNvSpPr txBox="1"/>
            <p:nvPr/>
          </p:nvSpPr>
          <p:spPr>
            <a:xfrm>
              <a:off x="1300" y="3852"/>
              <a:ext cx="8544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Future enhancements will focus on richer markdown support, improved model browsing, voice interaction capabilities, and deeper metadata integration.</a:t>
              </a:r>
              <a:endParaRPr lang="en-US" sz="110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0" y="3002"/>
              <a:ext cx="854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2AB6E"/>
                  </a:solidFill>
                  <a:latin typeface="思源黑体 Normal"/>
                  <a:ea typeface="思源黑体 Normal"/>
                </a:rPr>
                <a:t>Future Development Roadmap</a:t>
              </a:r>
              <a:endParaRPr lang="en-US" sz="1100"/>
            </a:p>
          </p:txBody>
        </p:sp>
      </p:grp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10" name="TextBox 10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Planned Improvements</a:t>
            </a:r>
            <a:endParaRPr lang="en-US" sz="1100"/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8748" y="2536190"/>
            <a:ext cx="4130040" cy="72453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sz="4800" b="0" i="0" u="none" baseline="0">
                <a:ln/>
                <a:solidFill>
                  <a:srgbClr val="D2AB6E"/>
                </a:solidFill>
                <a:effectLst/>
                <a:latin typeface="思源黑体 Medium"/>
                <a:ea typeface="思源黑体 Medium"/>
              </a:rPr>
              <a:t>PART   14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2490470" y="3029585"/>
            <a:ext cx="7046595" cy="250634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 fontAlgn="auto">
              <a:lnSpc>
                <a:spcPct val="110000"/>
              </a:lnSpc>
              <a:spcBef>
                <a:spcPct val="0"/>
              </a:spcBef>
              <a:buNone/>
              <a:defRPr/>
            </a:pPr>
            <a:r>
              <a:rPr lang="en-US" sz="4800" b="0" i="0" u="none" spc="200" baseline="0" dirty="0">
                <a:solidFill>
                  <a:srgbClr val="D2AB6E"/>
                </a:solidFill>
                <a:latin typeface="思源黑体 Medium"/>
                <a:ea typeface="思源黑体 Medium"/>
              </a:rPr>
              <a:t>Conclusion &amp; Thank You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64.jpeg"/>
          <p:cNvPicPr>
            <a:picLocks noChangeAspect="1"/>
          </p:cNvPicPr>
          <p:nvPr/>
        </p:nvPicPr>
        <p:blipFill rotWithShape="1">
          <a:blip r:embed="rId3"/>
          <a:srcRect l="7158" r="7158"/>
          <a:stretch>
            <a:fillRect/>
          </a:stretch>
        </p:blipFill>
        <p:spPr>
          <a:xfrm>
            <a:off x="695325" y="1805552"/>
            <a:ext cx="5344505" cy="4161294"/>
          </a:xfrm>
          <a:custGeom>
            <a:avLst/>
            <a:gdLst/>
            <a:ahLst/>
            <a:cxnLst/>
            <a:rect l="0" t="0" r="0" b="0"/>
            <a:pathLst>
              <a:path w="5198414" h="3959816">
                <a:moveTo>
                  <a:pt x="0" y="0"/>
                </a:moveTo>
                <a:lnTo>
                  <a:pt x="5198414" y="0"/>
                </a:lnTo>
                <a:lnTo>
                  <a:pt x="5198414" y="3959816"/>
                </a:lnTo>
                <a:lnTo>
                  <a:pt x="0" y="3959816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6152168" y="1805552"/>
            <a:ext cx="5343831" cy="4161295"/>
          </a:xfrm>
          <a:prstGeom prst="rect">
            <a:avLst/>
          </a:prstGeom>
          <a:solidFill>
            <a:srgbClr val="EDF2F2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6304404" y="2179319"/>
            <a:ext cx="5039360" cy="3413760"/>
            <a:chOff x="1805" y="3251"/>
            <a:chExt cx="7936" cy="5376"/>
          </a:xfrm>
          <a:noFill/>
        </p:grpSpPr>
        <p:sp>
          <p:nvSpPr>
            <p:cNvPr id="5" name="TextBox 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  <a:grpFill/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HAYA demonstrates practical offline LLM deployment on Android through native inference, optimized mobile UX, device-aware recommendation, and responsive offline AI interaction.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grp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D2AB6E"/>
                  </a:solidFill>
                  <a:latin typeface="思源黑体 Normal"/>
                  <a:ea typeface="思源黑体 Normal"/>
                </a:rPr>
                <a:t>Core Achievements</a:t>
              </a:r>
              <a:endParaRPr lang="en-US" sz="1100"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HAYA's Practical Demonstration</a:t>
            </a:r>
            <a:endParaRPr lang="en-US" sz="110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barn(in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2285287" y="2970666"/>
            <a:ext cx="3409950" cy="2887345"/>
          </a:xfrm>
          <a:custGeom>
            <a:avLst/>
            <a:gdLst/>
            <a:ahLst/>
            <a:cxnLst/>
            <a:rect l="l" t="t" r="r" b="b"/>
            <a:pathLst>
              <a:path w="5370" h="4547">
                <a:moveTo>
                  <a:pt x="579" y="0"/>
                </a:moveTo>
                <a:lnTo>
                  <a:pt x="1030" y="362"/>
                </a:lnTo>
                <a:lnTo>
                  <a:pt x="5026" y="362"/>
                </a:lnTo>
                <a:cubicBezTo>
                  <a:pt x="5185" y="362"/>
                  <a:pt x="5317" y="471"/>
                  <a:pt x="5354" y="618"/>
                </a:cubicBezTo>
                <a:lnTo>
                  <a:pt x="5355" y="624"/>
                </a:lnTo>
                <a:lnTo>
                  <a:pt x="5359" y="638"/>
                </a:lnTo>
                <a:cubicBezTo>
                  <a:pt x="5366" y="666"/>
                  <a:pt x="5370" y="695"/>
                  <a:pt x="5370" y="726"/>
                </a:cubicBezTo>
                <a:lnTo>
                  <a:pt x="5370" y="4198"/>
                </a:lnTo>
                <a:cubicBezTo>
                  <a:pt x="5370" y="4391"/>
                  <a:pt x="5214" y="4547"/>
                  <a:pt x="5021" y="4547"/>
                </a:cubicBezTo>
                <a:lnTo>
                  <a:pt x="349" y="4547"/>
                </a:lnTo>
                <a:cubicBezTo>
                  <a:pt x="258" y="4547"/>
                  <a:pt x="176" y="4513"/>
                  <a:pt x="114" y="4456"/>
                </a:cubicBezTo>
                <a:lnTo>
                  <a:pt x="114" y="4456"/>
                </a:lnTo>
                <a:lnTo>
                  <a:pt x="111" y="4453"/>
                </a:lnTo>
                <a:cubicBezTo>
                  <a:pt x="43" y="4392"/>
                  <a:pt x="0" y="4302"/>
                  <a:pt x="0" y="4203"/>
                </a:cubicBezTo>
                <a:lnTo>
                  <a:pt x="0" y="4198"/>
                </a:lnTo>
                <a:lnTo>
                  <a:pt x="0" y="726"/>
                </a:lnTo>
                <a:lnTo>
                  <a:pt x="0" y="700"/>
                </a:lnTo>
                <a:cubicBezTo>
                  <a:pt x="0" y="513"/>
                  <a:pt x="151" y="362"/>
                  <a:pt x="338" y="362"/>
                </a:cubicBezTo>
                <a:lnTo>
                  <a:pt x="580" y="362"/>
                </a:lnTo>
                <a:lnTo>
                  <a:pt x="579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40000"/>
                  <a:lumMod val="60000"/>
                  <a:lumOff val="40000"/>
                </a:schemeClr>
              </a:gs>
              <a:gs pos="80000">
                <a:schemeClr val="accent1">
                  <a:alpha val="6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789862" y="1826396"/>
            <a:ext cx="4646295" cy="3843064"/>
          </a:xfrm>
          <a:custGeom>
            <a:avLst/>
            <a:gdLst/>
            <a:ahLst/>
            <a:cxnLst/>
            <a:rect l="l" t="t" r="r" b="b"/>
            <a:pathLst>
              <a:path w="7317" h="6052">
                <a:moveTo>
                  <a:pt x="489" y="0"/>
                </a:moveTo>
                <a:lnTo>
                  <a:pt x="6828" y="0"/>
                </a:lnTo>
                <a:cubicBezTo>
                  <a:pt x="7098" y="0"/>
                  <a:pt x="7317" y="219"/>
                  <a:pt x="7317" y="489"/>
                </a:cubicBezTo>
                <a:lnTo>
                  <a:pt x="7317" y="5134"/>
                </a:lnTo>
                <a:cubicBezTo>
                  <a:pt x="7317" y="5404"/>
                  <a:pt x="7098" y="5623"/>
                  <a:pt x="6828" y="5623"/>
                </a:cubicBezTo>
                <a:lnTo>
                  <a:pt x="1234" y="5623"/>
                </a:lnTo>
                <a:lnTo>
                  <a:pt x="699" y="6052"/>
                </a:lnTo>
                <a:lnTo>
                  <a:pt x="700" y="5623"/>
                </a:lnTo>
                <a:lnTo>
                  <a:pt x="489" y="5623"/>
                </a:lnTo>
                <a:cubicBezTo>
                  <a:pt x="219" y="5623"/>
                  <a:pt x="0" y="5404"/>
                  <a:pt x="0" y="5134"/>
                </a:cubicBezTo>
                <a:lnTo>
                  <a:pt x="0" y="489"/>
                </a:lnTo>
                <a:cubicBezTo>
                  <a:pt x="0" y="219"/>
                  <a:pt x="219" y="0"/>
                  <a:pt x="489" y="0"/>
                </a:cubicBezTo>
                <a:close/>
              </a:path>
            </a:pathLst>
          </a:custGeom>
          <a:gradFill>
            <a:gsLst>
              <a:gs pos="20000">
                <a:schemeClr val="accent1">
                  <a:lumMod val="60000"/>
                  <a:lumOff val="40000"/>
                </a:schemeClr>
              </a:gs>
              <a:gs pos="64999">
                <a:schemeClr val="accent1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txBody>
          <a:bodyPr vert="horz" wrap="square" lIns="91440" tIns="45720" rIns="91440" bIns="45720" anchor="ctr">
            <a:noAutofit/>
          </a:bodyPr>
          <a:lstStyle/>
          <a:p>
            <a:pPr marL="0" algn="ctr"/>
            <a:endParaRPr/>
          </a:p>
        </p:txBody>
      </p:sp>
      <p:pic>
        <p:nvPicPr>
          <p:cNvPr id="4" name="image74.jpeg"/>
          <p:cNvPicPr>
            <a:picLocks noChangeAspect="1"/>
          </p:cNvPicPr>
          <p:nvPr/>
        </p:nvPicPr>
        <p:blipFill rotWithShape="1">
          <a:blip r:embed="rId3"/>
          <a:srcRect l="3560" r="3604"/>
          <a:stretch>
            <a:fillRect/>
          </a:stretch>
        </p:blipFill>
        <p:spPr>
          <a:xfrm>
            <a:off x="934959" y="1940560"/>
            <a:ext cx="4356100" cy="3274060"/>
          </a:xfrm>
          <a:prstGeom prst="roundRect">
            <a:avLst>
              <a:gd name="adj" fmla="val 6291"/>
            </a:avLst>
          </a:pr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5" name="TextBox 5"/>
          <p:cNvSpPr txBox="1"/>
          <p:nvPr/>
        </p:nvSpPr>
        <p:spPr>
          <a:xfrm>
            <a:off x="6185535" y="2480310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We thank you for your attention and interest in HAYA, the Encompassor of Offline LLM Utilizer.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185535" y="1940560"/>
            <a:ext cx="503999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D2AB6E"/>
                </a:solidFill>
                <a:latin typeface="思源黑体 Normal"/>
                <a:ea typeface="思源黑体 Normal"/>
              </a:rPr>
              <a:t>Thank You</a:t>
            </a:r>
            <a:endParaRPr lang="en-US" sz="1100"/>
          </a:p>
        </p:txBody>
      </p:sp>
      <p:sp>
        <p:nvSpPr>
          <p:cNvPr id="7" name="Freeform 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D2AB6E"/>
          </a:solidFill>
        </p:spPr>
      </p: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D2AB6E"/>
                </a:solidFill>
                <a:latin typeface="思源黑体 Normal"/>
                <a:ea typeface="思源黑体 Normal"/>
              </a:rPr>
              <a:t>Acknowledgments</a:t>
            </a:r>
            <a:endParaRPr lang="en-US" sz="1100"/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discrete" valueType="clr">
                                      <p:cBhvr override="childStyle">
                                        <p:cTn id="11" dur="5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2" dur="5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5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7"/>
          <p:cNvSpPr/>
          <p:nvPr/>
        </p:nvSpPr>
        <p:spPr>
          <a:xfrm>
            <a:off x="381000" y="2743200"/>
            <a:ext cx="7981422" cy="2742954"/>
          </a:xfrm>
          <a:prstGeom prst="rect">
            <a:avLst/>
          </a:prstGeom>
          <a:ln>
            <a:noFill/>
          </a:ln>
          <a:effectLst/>
        </p:spPr>
        <p:txBody>
          <a:bodyPr vert="horz" wrap="square" lIns="91440" tIns="45720" rIns="91440" bIns="45720" anchor="t">
            <a:noAutofit/>
          </a:bodyPr>
          <a:lstStyle/>
          <a:p>
            <a:pPr marL="0" algn="dist"/>
            <a:r>
              <a:rPr lang="zh-CN" altLang="en-US" sz="6000" b="0" i="0" u="none" baseline="0" dirty="0">
                <a:solidFill>
                  <a:schemeClr val="tx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Thank you for </a:t>
            </a:r>
            <a:r>
              <a:rPr lang="en-US" altLang="zh-CN" sz="6000" b="0" i="0" u="none" baseline="0" dirty="0">
                <a:solidFill>
                  <a:schemeClr val="tx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w</a:t>
            </a:r>
            <a:r>
              <a:rPr lang="zh-CN" altLang="en-US" sz="6000" b="0" i="0" u="none" baseline="0" dirty="0">
                <a:solidFill>
                  <a:schemeClr val="tx1"/>
                </a:solidFill>
                <a:latin typeface="Yu Gothic UI Light" panose="020B0300000000000000" pitchFamily="34" charset="-128"/>
                <a:ea typeface="Yu Gothic UI Light" panose="020B0300000000000000" pitchFamily="34" charset="-128"/>
              </a:rPr>
              <a:t>atching.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calcmode="lin" valueType="num">
                                      <p:cBhvr>
                                        <p:cTn id="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262626"/>
      </a:dk1>
      <a:lt1>
        <a:srgbClr val="FFFFFF"/>
      </a:lt1>
      <a:dk2>
        <a:srgbClr val="D2AB6E"/>
      </a:dk2>
      <a:lt2>
        <a:srgbClr val="FFFFFF"/>
      </a:lt2>
      <a:accent1>
        <a:srgbClr val="D2AB6E"/>
      </a:accent1>
      <a:accent2>
        <a:srgbClr val="D2AB6E"/>
      </a:accent2>
      <a:accent3>
        <a:srgbClr val="D2AB6E"/>
      </a:accent3>
      <a:accent4>
        <a:srgbClr val="D2AB6E"/>
      </a:accent4>
      <a:accent5>
        <a:srgbClr val="D2AB6E"/>
      </a:accent5>
      <a:accent6>
        <a:srgbClr val="D2AB6E"/>
      </a:accent6>
      <a:hlink>
        <a:srgbClr val="262626"/>
      </a:hlink>
      <a:folHlink>
        <a:srgbClr val="262626"/>
      </a:folHlink>
    </a:clrScheme>
    <a:fontScheme name="Office">
      <a:maj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1190</Words>
  <Application>Microsoft Office PowerPoint</Application>
  <PresentationFormat>Widescreen</PresentationFormat>
  <Paragraphs>167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Yu Gothic UI Light</vt:lpstr>
      <vt:lpstr>Arial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Kaif Rehman</cp:lastModifiedBy>
  <cp:revision>4</cp:revision>
  <dcterms:created xsi:type="dcterms:W3CDTF">2026-05-15T13:29:09Z</dcterms:created>
  <dcterms:modified xsi:type="dcterms:W3CDTF">2026-05-15T14:25:23Z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{"ContentPropagator":"文多多","Label":"1","ReservedCode1":"1778851749292","ProduceID":"wenduoduo-pptx-1778851749292","ReservedCode2":"1778851749292","PropagateID":"wenduoduo-pptx1778851749292","ContentProducer":"文多多"}</vt:lpwstr>
  </property>
</Properties>
</file>